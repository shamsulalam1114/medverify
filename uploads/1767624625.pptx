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handoutMasterIdLst>
    <p:handoutMasterId r:id="rId22"/>
  </p:handoutMasterIdLst>
  <p:sldIdLst>
    <p:sldId id="256" r:id="rId5"/>
    <p:sldId id="257" r:id="rId6"/>
    <p:sldId id="258" r:id="rId7"/>
    <p:sldId id="259" r:id="rId8"/>
    <p:sldId id="269" r:id="rId9"/>
    <p:sldId id="260" r:id="rId10"/>
    <p:sldId id="266" r:id="rId11"/>
    <p:sldId id="270" r:id="rId12"/>
    <p:sldId id="271" r:id="rId13"/>
    <p:sldId id="272" r:id="rId14"/>
    <p:sldId id="273" r:id="rId15"/>
    <p:sldId id="274" r:id="rId16"/>
    <p:sldId id="277" r:id="rId17"/>
    <p:sldId id="263" r:id="rId18"/>
    <p:sldId id="279"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04" d="100"/>
          <a:sy n="104" d="100"/>
        </p:scale>
        <p:origin x="144" y="25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536705-C03E-4A42-964D-86C42C421C16}"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F72ED28D-9C63-41DF-87AC-67F552116996}">
      <dgm:prSet phldrT="[Text]" custT="1"/>
      <dgm:spPr/>
      <dgm:t>
        <a:bodyPr/>
        <a:lstStyle/>
        <a:p>
          <a:pPr>
            <a:buNone/>
          </a:pPr>
          <a:r>
            <a:rPr lang="en-US" sz="1000" b="1" dirty="0"/>
            <a:t>Who gets affected?</a:t>
          </a:r>
          <a:r>
            <a:rPr lang="en-US" sz="1000" dirty="0"/>
            <a:t> </a:t>
          </a:r>
        </a:p>
        <a:p>
          <a:pPr>
            <a:buNone/>
          </a:pPr>
          <a:endParaRPr lang="en-US" sz="1000" dirty="0"/>
        </a:p>
      </dgm:t>
    </dgm:pt>
    <dgm:pt modelId="{099B00F6-05EF-47F7-AF2D-01CCA0802041}" type="parTrans" cxnId="{88DB6147-E8A6-4435-AB87-B8C29DB1E8C3}">
      <dgm:prSet/>
      <dgm:spPr/>
      <dgm:t>
        <a:bodyPr/>
        <a:lstStyle/>
        <a:p>
          <a:endParaRPr lang="en-US"/>
        </a:p>
      </dgm:t>
    </dgm:pt>
    <dgm:pt modelId="{26B2F5D8-DD5D-46A3-ADAB-2E51ACF492F3}" type="sibTrans" cxnId="{88DB6147-E8A6-4435-AB87-B8C29DB1E8C3}">
      <dgm:prSet/>
      <dgm:spPr/>
      <dgm:t>
        <a:bodyPr/>
        <a:lstStyle/>
        <a:p>
          <a:endParaRPr lang="en-US"/>
        </a:p>
      </dgm:t>
    </dgm:pt>
    <dgm:pt modelId="{E445E001-F68C-49EE-BE61-B4957500FF4C}">
      <dgm:prSet phldrT="[Text]" custT="1"/>
      <dgm:spPr/>
      <dgm:t>
        <a:bodyPr/>
        <a:lstStyle/>
        <a:p>
          <a:pPr>
            <a:buNone/>
          </a:pPr>
          <a:r>
            <a:rPr lang="en-US" sz="1000" dirty="0"/>
            <a:t>Organizations,</a:t>
          </a:r>
        </a:p>
      </dgm:t>
    </dgm:pt>
    <dgm:pt modelId="{9BC1904D-961A-4177-8DE8-DD280B856391}" type="parTrans" cxnId="{507E27C1-3833-404F-96BD-FA5A14E758E2}">
      <dgm:prSet/>
      <dgm:spPr/>
      <dgm:t>
        <a:bodyPr/>
        <a:lstStyle/>
        <a:p>
          <a:endParaRPr lang="en-US"/>
        </a:p>
      </dgm:t>
    </dgm:pt>
    <dgm:pt modelId="{19EE90E9-BEEF-4A17-B1BC-A7972DB8EE65}" type="sibTrans" cxnId="{507E27C1-3833-404F-96BD-FA5A14E758E2}">
      <dgm:prSet/>
      <dgm:spPr/>
      <dgm:t>
        <a:bodyPr/>
        <a:lstStyle/>
        <a:p>
          <a:endParaRPr lang="en-US"/>
        </a:p>
      </dgm:t>
    </dgm:pt>
    <dgm:pt modelId="{9F83C8AD-03D5-4015-A670-F68A1A6F6D23}">
      <dgm:prSet phldrT="[Text]"/>
      <dgm:spPr/>
      <dgm:t>
        <a:bodyPr/>
        <a:lstStyle/>
        <a:p>
          <a:pPr>
            <a:buNone/>
          </a:pPr>
          <a:r>
            <a:rPr lang="en-US" b="1" dirty="0"/>
            <a:t>What is wrong?</a:t>
          </a:r>
          <a:r>
            <a:rPr lang="en-US" dirty="0"/>
            <a:t> </a:t>
          </a:r>
        </a:p>
      </dgm:t>
    </dgm:pt>
    <dgm:pt modelId="{55B1E644-DD73-4D63-803F-C282653857EA}" type="parTrans" cxnId="{671F4707-1719-4235-BB66-7D67931875E8}">
      <dgm:prSet/>
      <dgm:spPr/>
      <dgm:t>
        <a:bodyPr/>
        <a:lstStyle/>
        <a:p>
          <a:endParaRPr lang="en-US"/>
        </a:p>
      </dgm:t>
    </dgm:pt>
    <dgm:pt modelId="{3B790F02-66CD-417A-B2C5-1D7F6C724EB0}" type="sibTrans" cxnId="{671F4707-1719-4235-BB66-7D67931875E8}">
      <dgm:prSet/>
      <dgm:spPr/>
      <dgm:t>
        <a:bodyPr/>
        <a:lstStyle/>
        <a:p>
          <a:endParaRPr lang="en-US"/>
        </a:p>
      </dgm:t>
    </dgm:pt>
    <dgm:pt modelId="{65C04292-9298-4BFC-8CA4-870D367E37F2}">
      <dgm:prSet phldrT="[Text]"/>
      <dgm:spPr/>
      <dgm:t>
        <a:bodyPr/>
        <a:lstStyle/>
        <a:p>
          <a:pPr>
            <a:buNone/>
          </a:pPr>
          <a:r>
            <a:rPr lang="en-US" dirty="0"/>
            <a:t>AI/ML detection systems currently in use are characterized by a high rate of false positives, lack of resistance to adversarial evasion, and are very often unable to detect zero-day or polymorphic ransomware[2][4]. </a:t>
          </a:r>
        </a:p>
      </dgm:t>
    </dgm:pt>
    <dgm:pt modelId="{D634E847-1263-467A-A550-517880CD327D}" type="parTrans" cxnId="{55765C3B-108E-4BFB-A846-72A62099B8E1}">
      <dgm:prSet/>
      <dgm:spPr/>
      <dgm:t>
        <a:bodyPr/>
        <a:lstStyle/>
        <a:p>
          <a:endParaRPr lang="en-US"/>
        </a:p>
      </dgm:t>
    </dgm:pt>
    <dgm:pt modelId="{AFE18AD3-45E3-4189-9713-0194DC105461}" type="sibTrans" cxnId="{55765C3B-108E-4BFB-A846-72A62099B8E1}">
      <dgm:prSet/>
      <dgm:spPr/>
      <dgm:t>
        <a:bodyPr/>
        <a:lstStyle/>
        <a:p>
          <a:endParaRPr lang="en-US"/>
        </a:p>
      </dgm:t>
    </dgm:pt>
    <dgm:pt modelId="{E553A86C-BD3E-41FA-A6C1-E2D5F4F5AFD9}">
      <dgm:prSet phldrT="[Text]"/>
      <dgm:spPr/>
      <dgm:t>
        <a:bodyPr/>
        <a:lstStyle/>
        <a:p>
          <a:pPr>
            <a:buNone/>
          </a:pPr>
          <a:r>
            <a:rPr lang="en-US" b="1" dirty="0"/>
            <a:t>When does the problem arise?</a:t>
          </a:r>
          <a:r>
            <a:rPr lang="en-US" dirty="0"/>
            <a:t> </a:t>
          </a:r>
        </a:p>
      </dgm:t>
    </dgm:pt>
    <dgm:pt modelId="{54819638-1F09-4D65-9D6A-1856A5F40F00}" type="parTrans" cxnId="{0623A240-A33F-4DE8-B487-D23FDC86C18A}">
      <dgm:prSet/>
      <dgm:spPr/>
      <dgm:t>
        <a:bodyPr/>
        <a:lstStyle/>
        <a:p>
          <a:endParaRPr lang="en-US"/>
        </a:p>
      </dgm:t>
    </dgm:pt>
    <dgm:pt modelId="{9008E214-1C42-4E33-B389-99E20BE75E7C}" type="sibTrans" cxnId="{0623A240-A33F-4DE8-B487-D23FDC86C18A}">
      <dgm:prSet/>
      <dgm:spPr/>
      <dgm:t>
        <a:bodyPr/>
        <a:lstStyle/>
        <a:p>
          <a:endParaRPr lang="en-US"/>
        </a:p>
      </dgm:t>
    </dgm:pt>
    <dgm:pt modelId="{0F5C2217-7797-49DE-9060-0A79512AEAA9}">
      <dgm:prSet phldrT="[Text]"/>
      <dgm:spPr/>
      <dgm:t>
        <a:bodyPr/>
        <a:lstStyle/>
        <a:p>
          <a:pPr>
            <a:buNone/>
          </a:pPr>
          <a:r>
            <a:rPr lang="en-US" dirty="0"/>
            <a:t>The problem arises during the early stages of the ransomware attack—when it is most critical to be able to detect quickly and accurately in order to prevent data encryption and disruption of operations. </a:t>
          </a:r>
        </a:p>
      </dgm:t>
    </dgm:pt>
    <dgm:pt modelId="{65BBAB4D-5F70-4B90-9A34-7AED6088E912}" type="parTrans" cxnId="{B7D8FDB9-028F-47B3-A6F3-34FEC351737F}">
      <dgm:prSet/>
      <dgm:spPr/>
      <dgm:t>
        <a:bodyPr/>
        <a:lstStyle/>
        <a:p>
          <a:endParaRPr lang="en-US"/>
        </a:p>
      </dgm:t>
    </dgm:pt>
    <dgm:pt modelId="{54CCB59A-61B1-478D-B770-28FBF0451266}" type="sibTrans" cxnId="{B7D8FDB9-028F-47B3-A6F3-34FEC351737F}">
      <dgm:prSet/>
      <dgm:spPr/>
      <dgm:t>
        <a:bodyPr/>
        <a:lstStyle/>
        <a:p>
          <a:endParaRPr lang="en-US"/>
        </a:p>
      </dgm:t>
    </dgm:pt>
    <dgm:pt modelId="{5EB476FE-234D-43D8-B913-D3751147AFB9}">
      <dgm:prSet phldrT="[Text]" custT="1"/>
      <dgm:spPr/>
      <dgm:t>
        <a:bodyPr/>
        <a:lstStyle/>
        <a:p>
          <a:pPr>
            <a:buNone/>
          </a:pPr>
          <a:r>
            <a:rPr lang="en-US" sz="1000" dirty="0"/>
            <a:t>cybersecurity teams, cloud service providers, and individual users who are the victims of ransomware attacks. </a:t>
          </a:r>
        </a:p>
      </dgm:t>
    </dgm:pt>
    <dgm:pt modelId="{014CC29C-73D4-419C-8002-F7A37342F670}" type="parTrans" cxnId="{FA677900-E554-48B0-8A9A-4B644D8A8975}">
      <dgm:prSet/>
      <dgm:spPr/>
      <dgm:t>
        <a:bodyPr/>
        <a:lstStyle/>
        <a:p>
          <a:endParaRPr lang="en-US"/>
        </a:p>
      </dgm:t>
    </dgm:pt>
    <dgm:pt modelId="{48CA389B-4DCF-4F1E-952E-75420825EBAA}" type="sibTrans" cxnId="{FA677900-E554-48B0-8A9A-4B644D8A8975}">
      <dgm:prSet/>
      <dgm:spPr/>
      <dgm:t>
        <a:bodyPr/>
        <a:lstStyle/>
        <a:p>
          <a:endParaRPr lang="en-US"/>
        </a:p>
      </dgm:t>
    </dgm:pt>
    <dgm:pt modelId="{B1BEF0C0-80F5-4A73-9BF5-0385C3231163}" type="pres">
      <dgm:prSet presAssocID="{95536705-C03E-4A42-964D-86C42C421C16}" presName="Name0" presStyleCnt="0">
        <dgm:presLayoutVars>
          <dgm:dir/>
          <dgm:resizeHandles val="exact"/>
        </dgm:presLayoutVars>
      </dgm:prSet>
      <dgm:spPr/>
    </dgm:pt>
    <dgm:pt modelId="{BC0FE5E5-999E-400A-AAF1-1B652876359D}" type="pres">
      <dgm:prSet presAssocID="{F72ED28D-9C63-41DF-87AC-67F552116996}" presName="node" presStyleLbl="node1" presStyleIdx="0" presStyleCnt="3">
        <dgm:presLayoutVars>
          <dgm:bulletEnabled val="1"/>
        </dgm:presLayoutVars>
      </dgm:prSet>
      <dgm:spPr/>
    </dgm:pt>
    <dgm:pt modelId="{5423A6D5-8656-47D1-91C9-287EAC9E554C}" type="pres">
      <dgm:prSet presAssocID="{26B2F5D8-DD5D-46A3-ADAB-2E51ACF492F3}" presName="sibTrans" presStyleCnt="0"/>
      <dgm:spPr/>
    </dgm:pt>
    <dgm:pt modelId="{ED636A01-C304-4CCD-A218-21AF43C50D11}" type="pres">
      <dgm:prSet presAssocID="{9F83C8AD-03D5-4015-A670-F68A1A6F6D23}" presName="node" presStyleLbl="node1" presStyleIdx="1" presStyleCnt="3">
        <dgm:presLayoutVars>
          <dgm:bulletEnabled val="1"/>
        </dgm:presLayoutVars>
      </dgm:prSet>
      <dgm:spPr/>
    </dgm:pt>
    <dgm:pt modelId="{C0AD36FB-EBE7-4405-A98C-1CC1BAC80EF5}" type="pres">
      <dgm:prSet presAssocID="{3B790F02-66CD-417A-B2C5-1D7F6C724EB0}" presName="sibTrans" presStyleCnt="0"/>
      <dgm:spPr/>
    </dgm:pt>
    <dgm:pt modelId="{5916C486-B0FD-452B-A76B-6CB472ACB327}" type="pres">
      <dgm:prSet presAssocID="{E553A86C-BD3E-41FA-A6C1-E2D5F4F5AFD9}" presName="node" presStyleLbl="node1" presStyleIdx="2" presStyleCnt="3">
        <dgm:presLayoutVars>
          <dgm:bulletEnabled val="1"/>
        </dgm:presLayoutVars>
      </dgm:prSet>
      <dgm:spPr/>
    </dgm:pt>
  </dgm:ptLst>
  <dgm:cxnLst>
    <dgm:cxn modelId="{FA677900-E554-48B0-8A9A-4B644D8A8975}" srcId="{F72ED28D-9C63-41DF-87AC-67F552116996}" destId="{5EB476FE-234D-43D8-B913-D3751147AFB9}" srcOrd="1" destOrd="0" parTransId="{014CC29C-73D4-419C-8002-F7A37342F670}" sibTransId="{48CA389B-4DCF-4F1E-952E-75420825EBAA}"/>
    <dgm:cxn modelId="{671F4707-1719-4235-BB66-7D67931875E8}" srcId="{95536705-C03E-4A42-964D-86C42C421C16}" destId="{9F83C8AD-03D5-4015-A670-F68A1A6F6D23}" srcOrd="1" destOrd="0" parTransId="{55B1E644-DD73-4D63-803F-C282653857EA}" sibTransId="{3B790F02-66CD-417A-B2C5-1D7F6C724EB0}"/>
    <dgm:cxn modelId="{031C6633-8053-467D-A5E4-80BFCD190E5B}" type="presOf" srcId="{E553A86C-BD3E-41FA-A6C1-E2D5F4F5AFD9}" destId="{5916C486-B0FD-452B-A76B-6CB472ACB327}" srcOrd="0" destOrd="0" presId="urn:microsoft.com/office/officeart/2005/8/layout/hList6"/>
    <dgm:cxn modelId="{55765C3B-108E-4BFB-A846-72A62099B8E1}" srcId="{9F83C8AD-03D5-4015-A670-F68A1A6F6D23}" destId="{65C04292-9298-4BFC-8CA4-870D367E37F2}" srcOrd="0" destOrd="0" parTransId="{D634E847-1263-467A-A550-517880CD327D}" sibTransId="{AFE18AD3-45E3-4189-9713-0194DC105461}"/>
    <dgm:cxn modelId="{0623A240-A33F-4DE8-B487-D23FDC86C18A}" srcId="{95536705-C03E-4A42-964D-86C42C421C16}" destId="{E553A86C-BD3E-41FA-A6C1-E2D5F4F5AFD9}" srcOrd="2" destOrd="0" parTransId="{54819638-1F09-4D65-9D6A-1856A5F40F00}" sibTransId="{9008E214-1C42-4E33-B389-99E20BE75E7C}"/>
    <dgm:cxn modelId="{88DB6147-E8A6-4435-AB87-B8C29DB1E8C3}" srcId="{95536705-C03E-4A42-964D-86C42C421C16}" destId="{F72ED28D-9C63-41DF-87AC-67F552116996}" srcOrd="0" destOrd="0" parTransId="{099B00F6-05EF-47F7-AF2D-01CCA0802041}" sibTransId="{26B2F5D8-DD5D-46A3-ADAB-2E51ACF492F3}"/>
    <dgm:cxn modelId="{3C69C348-05B9-4AF7-AABC-B5018608F998}" type="presOf" srcId="{9F83C8AD-03D5-4015-A670-F68A1A6F6D23}" destId="{ED636A01-C304-4CCD-A218-21AF43C50D11}" srcOrd="0" destOrd="0" presId="urn:microsoft.com/office/officeart/2005/8/layout/hList6"/>
    <dgm:cxn modelId="{4C28358D-F497-4A2B-B905-FD005C60FFBA}" type="presOf" srcId="{E445E001-F68C-49EE-BE61-B4957500FF4C}" destId="{BC0FE5E5-999E-400A-AAF1-1B652876359D}" srcOrd="0" destOrd="1" presId="urn:microsoft.com/office/officeart/2005/8/layout/hList6"/>
    <dgm:cxn modelId="{9595B990-EA7B-4006-A1E9-DF4C3338B5BF}" type="presOf" srcId="{95536705-C03E-4A42-964D-86C42C421C16}" destId="{B1BEF0C0-80F5-4A73-9BF5-0385C3231163}" srcOrd="0" destOrd="0" presId="urn:microsoft.com/office/officeart/2005/8/layout/hList6"/>
    <dgm:cxn modelId="{881D55A8-369B-4A08-9B4E-0062F76F6F07}" type="presOf" srcId="{0F5C2217-7797-49DE-9060-0A79512AEAA9}" destId="{5916C486-B0FD-452B-A76B-6CB472ACB327}" srcOrd="0" destOrd="1" presId="urn:microsoft.com/office/officeart/2005/8/layout/hList6"/>
    <dgm:cxn modelId="{A6F475B5-FB66-46E0-BB93-8AF7E22EFF03}" type="presOf" srcId="{F72ED28D-9C63-41DF-87AC-67F552116996}" destId="{BC0FE5E5-999E-400A-AAF1-1B652876359D}" srcOrd="0" destOrd="0" presId="urn:microsoft.com/office/officeart/2005/8/layout/hList6"/>
    <dgm:cxn modelId="{B7D8FDB9-028F-47B3-A6F3-34FEC351737F}" srcId="{E553A86C-BD3E-41FA-A6C1-E2D5F4F5AFD9}" destId="{0F5C2217-7797-49DE-9060-0A79512AEAA9}" srcOrd="0" destOrd="0" parTransId="{65BBAB4D-5F70-4B90-9A34-7AED6088E912}" sibTransId="{54CCB59A-61B1-478D-B770-28FBF0451266}"/>
    <dgm:cxn modelId="{E2230BC1-E65E-4DC3-8F3C-A5ED006C22AC}" type="presOf" srcId="{65C04292-9298-4BFC-8CA4-870D367E37F2}" destId="{ED636A01-C304-4CCD-A218-21AF43C50D11}" srcOrd="0" destOrd="1" presId="urn:microsoft.com/office/officeart/2005/8/layout/hList6"/>
    <dgm:cxn modelId="{507E27C1-3833-404F-96BD-FA5A14E758E2}" srcId="{F72ED28D-9C63-41DF-87AC-67F552116996}" destId="{E445E001-F68C-49EE-BE61-B4957500FF4C}" srcOrd="0" destOrd="0" parTransId="{9BC1904D-961A-4177-8DE8-DD280B856391}" sibTransId="{19EE90E9-BEEF-4A17-B1BC-A7972DB8EE65}"/>
    <dgm:cxn modelId="{39A5DFE6-4BCC-4976-9298-5DE299DDDCDA}" type="presOf" srcId="{5EB476FE-234D-43D8-B913-D3751147AFB9}" destId="{BC0FE5E5-999E-400A-AAF1-1B652876359D}" srcOrd="0" destOrd="2" presId="urn:microsoft.com/office/officeart/2005/8/layout/hList6"/>
    <dgm:cxn modelId="{DBE8848B-D3CE-4FAE-AEFB-997422F98A49}" type="presParOf" srcId="{B1BEF0C0-80F5-4A73-9BF5-0385C3231163}" destId="{BC0FE5E5-999E-400A-AAF1-1B652876359D}" srcOrd="0" destOrd="0" presId="urn:microsoft.com/office/officeart/2005/8/layout/hList6"/>
    <dgm:cxn modelId="{F958D24E-A19E-4858-AC0F-9131F0F3E3D5}" type="presParOf" srcId="{B1BEF0C0-80F5-4A73-9BF5-0385C3231163}" destId="{5423A6D5-8656-47D1-91C9-287EAC9E554C}" srcOrd="1" destOrd="0" presId="urn:microsoft.com/office/officeart/2005/8/layout/hList6"/>
    <dgm:cxn modelId="{D02869E7-1B24-43B5-A874-04F86F820154}" type="presParOf" srcId="{B1BEF0C0-80F5-4A73-9BF5-0385C3231163}" destId="{ED636A01-C304-4CCD-A218-21AF43C50D11}" srcOrd="2" destOrd="0" presId="urn:microsoft.com/office/officeart/2005/8/layout/hList6"/>
    <dgm:cxn modelId="{DD79AAC3-B5FA-4214-B3D0-EF5AD1526776}" type="presParOf" srcId="{B1BEF0C0-80F5-4A73-9BF5-0385C3231163}" destId="{C0AD36FB-EBE7-4405-A98C-1CC1BAC80EF5}" srcOrd="3" destOrd="0" presId="urn:microsoft.com/office/officeart/2005/8/layout/hList6"/>
    <dgm:cxn modelId="{3F83899C-C29B-4FCD-A811-7B7569B299B8}" type="presParOf" srcId="{B1BEF0C0-80F5-4A73-9BF5-0385C3231163}" destId="{5916C486-B0FD-452B-A76B-6CB472ACB327}"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536705-C03E-4A42-964D-86C42C421C16}"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F72ED28D-9C63-41DF-87AC-67F552116996}">
      <dgm:prSet phldrT="[Text]" custT="1"/>
      <dgm:spPr/>
      <dgm:t>
        <a:bodyPr/>
        <a:lstStyle/>
        <a:p>
          <a:pPr>
            <a:buNone/>
          </a:pPr>
          <a:r>
            <a:rPr lang="en-US" sz="1000" b="1" dirty="0"/>
            <a:t>Where does the problem occur?</a:t>
          </a:r>
          <a:r>
            <a:rPr lang="en-US" sz="1000" dirty="0"/>
            <a:t> </a:t>
          </a:r>
        </a:p>
      </dgm:t>
    </dgm:pt>
    <dgm:pt modelId="{099B00F6-05EF-47F7-AF2D-01CCA0802041}" type="parTrans" cxnId="{88DB6147-E8A6-4435-AB87-B8C29DB1E8C3}">
      <dgm:prSet/>
      <dgm:spPr/>
      <dgm:t>
        <a:bodyPr/>
        <a:lstStyle/>
        <a:p>
          <a:endParaRPr lang="en-US"/>
        </a:p>
      </dgm:t>
    </dgm:pt>
    <dgm:pt modelId="{26B2F5D8-DD5D-46A3-ADAB-2E51ACF492F3}" type="sibTrans" cxnId="{88DB6147-E8A6-4435-AB87-B8C29DB1E8C3}">
      <dgm:prSet/>
      <dgm:spPr/>
      <dgm:t>
        <a:bodyPr/>
        <a:lstStyle/>
        <a:p>
          <a:endParaRPr lang="en-US"/>
        </a:p>
      </dgm:t>
    </dgm:pt>
    <dgm:pt modelId="{E445E001-F68C-49EE-BE61-B4957500FF4C}">
      <dgm:prSet phldrT="[Text]" custT="1"/>
      <dgm:spPr/>
      <dgm:t>
        <a:bodyPr/>
        <a:lstStyle/>
        <a:p>
          <a:pPr>
            <a:buNone/>
          </a:pPr>
          <a:r>
            <a:rPr lang="en-US" sz="800" dirty="0"/>
            <a:t>On enterprise networks, endpoint devices, cloud infrastructures, and IoT environments where ransomware can spread this is where the problem occurs[3]. </a:t>
          </a:r>
        </a:p>
      </dgm:t>
    </dgm:pt>
    <dgm:pt modelId="{9BC1904D-961A-4177-8DE8-DD280B856391}" type="parTrans" cxnId="{507E27C1-3833-404F-96BD-FA5A14E758E2}">
      <dgm:prSet/>
      <dgm:spPr/>
      <dgm:t>
        <a:bodyPr/>
        <a:lstStyle/>
        <a:p>
          <a:endParaRPr lang="en-US"/>
        </a:p>
      </dgm:t>
    </dgm:pt>
    <dgm:pt modelId="{19EE90E9-BEEF-4A17-B1BC-A7972DB8EE65}" type="sibTrans" cxnId="{507E27C1-3833-404F-96BD-FA5A14E758E2}">
      <dgm:prSet/>
      <dgm:spPr/>
      <dgm:t>
        <a:bodyPr/>
        <a:lstStyle/>
        <a:p>
          <a:endParaRPr lang="en-US"/>
        </a:p>
      </dgm:t>
    </dgm:pt>
    <dgm:pt modelId="{9F83C8AD-03D5-4015-A670-F68A1A6F6D23}">
      <dgm:prSet phldrT="[Text]"/>
      <dgm:spPr/>
      <dgm:t>
        <a:bodyPr/>
        <a:lstStyle/>
        <a:p>
          <a:pPr>
            <a:buNone/>
          </a:pPr>
          <a:r>
            <a:rPr lang="en-US" b="1" dirty="0"/>
            <a:t>Why is it significant?</a:t>
          </a:r>
          <a:r>
            <a:rPr lang="en-US" dirty="0"/>
            <a:t> </a:t>
          </a:r>
        </a:p>
      </dgm:t>
    </dgm:pt>
    <dgm:pt modelId="{55B1E644-DD73-4D63-803F-C282653857EA}" type="parTrans" cxnId="{671F4707-1719-4235-BB66-7D67931875E8}">
      <dgm:prSet/>
      <dgm:spPr/>
      <dgm:t>
        <a:bodyPr/>
        <a:lstStyle/>
        <a:p>
          <a:endParaRPr lang="en-US"/>
        </a:p>
      </dgm:t>
    </dgm:pt>
    <dgm:pt modelId="{3B790F02-66CD-417A-B2C5-1D7F6C724EB0}" type="sibTrans" cxnId="{671F4707-1719-4235-BB66-7D67931875E8}">
      <dgm:prSet/>
      <dgm:spPr/>
      <dgm:t>
        <a:bodyPr/>
        <a:lstStyle/>
        <a:p>
          <a:endParaRPr lang="en-US"/>
        </a:p>
      </dgm:t>
    </dgm:pt>
    <dgm:pt modelId="{65C04292-9298-4BFC-8CA4-870D367E37F2}">
      <dgm:prSet phldrT="[Text]"/>
      <dgm:spPr/>
      <dgm:t>
        <a:bodyPr/>
        <a:lstStyle/>
        <a:p>
          <a:pPr>
            <a:buNone/>
          </a:pPr>
          <a:r>
            <a:rPr lang="en-US" dirty="0"/>
            <a:t>Ransomware leads to huge financial losses, data leakage, service disruption, and prolonged recovery; thus, enhancing detection precision can be a great help in reducing the extent of the damage[1]. </a:t>
          </a:r>
        </a:p>
      </dgm:t>
    </dgm:pt>
    <dgm:pt modelId="{D634E847-1263-467A-A550-517880CD327D}" type="parTrans" cxnId="{55765C3B-108E-4BFB-A846-72A62099B8E1}">
      <dgm:prSet/>
      <dgm:spPr/>
      <dgm:t>
        <a:bodyPr/>
        <a:lstStyle/>
        <a:p>
          <a:endParaRPr lang="en-US"/>
        </a:p>
      </dgm:t>
    </dgm:pt>
    <dgm:pt modelId="{AFE18AD3-45E3-4189-9713-0194DC105461}" type="sibTrans" cxnId="{55765C3B-108E-4BFB-A846-72A62099B8E1}">
      <dgm:prSet/>
      <dgm:spPr/>
      <dgm:t>
        <a:bodyPr/>
        <a:lstStyle/>
        <a:p>
          <a:endParaRPr lang="en-US"/>
        </a:p>
      </dgm:t>
    </dgm:pt>
    <dgm:pt modelId="{E553A86C-BD3E-41FA-A6C1-E2D5F4F5AFD9}">
      <dgm:prSet phldrT="[Text]"/>
      <dgm:spPr/>
      <dgm:t>
        <a:bodyPr/>
        <a:lstStyle/>
        <a:p>
          <a:pPr>
            <a:buNone/>
          </a:pPr>
          <a:r>
            <a:rPr lang="en-US" b="1" dirty="0"/>
            <a:t>What is the persistence of the issue?</a:t>
          </a:r>
          <a:r>
            <a:rPr lang="en-US" dirty="0"/>
            <a:t> </a:t>
          </a:r>
        </a:p>
      </dgm:t>
    </dgm:pt>
    <dgm:pt modelId="{54819638-1F09-4D65-9D6A-1856A5F40F00}" type="parTrans" cxnId="{0623A240-A33F-4DE8-B487-D23FDC86C18A}">
      <dgm:prSet/>
      <dgm:spPr/>
      <dgm:t>
        <a:bodyPr/>
        <a:lstStyle/>
        <a:p>
          <a:endParaRPr lang="en-US"/>
        </a:p>
      </dgm:t>
    </dgm:pt>
    <dgm:pt modelId="{9008E214-1C42-4E33-B389-99E20BE75E7C}" type="sibTrans" cxnId="{0623A240-A33F-4DE8-B487-D23FDC86C18A}">
      <dgm:prSet/>
      <dgm:spPr/>
      <dgm:t>
        <a:bodyPr/>
        <a:lstStyle/>
        <a:p>
          <a:endParaRPr lang="en-US"/>
        </a:p>
      </dgm:t>
    </dgm:pt>
    <dgm:pt modelId="{0F5C2217-7797-49DE-9060-0A79512AEAA9}">
      <dgm:prSet phldrT="[Text]"/>
      <dgm:spPr/>
      <dgm:t>
        <a:bodyPr/>
        <a:lstStyle/>
        <a:p>
          <a:pPr>
            <a:buNone/>
          </a:pPr>
          <a:r>
            <a:rPr lang="en-US" dirty="0"/>
            <a:t>ML models rely on training data; hence attackers constantly develop new tricks to get past the detectors, whereas the defenders are always hard-pressed to keep their data not only updated and diverse but also to create models that are less susceptible to adversarial manipulation[4]. </a:t>
          </a:r>
        </a:p>
      </dgm:t>
    </dgm:pt>
    <dgm:pt modelId="{65BBAB4D-5F70-4B90-9A34-7AED6088E912}" type="parTrans" cxnId="{B7D8FDB9-028F-47B3-A6F3-34FEC351737F}">
      <dgm:prSet/>
      <dgm:spPr/>
      <dgm:t>
        <a:bodyPr/>
        <a:lstStyle/>
        <a:p>
          <a:endParaRPr lang="en-US"/>
        </a:p>
      </dgm:t>
    </dgm:pt>
    <dgm:pt modelId="{54CCB59A-61B1-478D-B770-28FBF0451266}" type="sibTrans" cxnId="{B7D8FDB9-028F-47B3-A6F3-34FEC351737F}">
      <dgm:prSet/>
      <dgm:spPr/>
      <dgm:t>
        <a:bodyPr/>
        <a:lstStyle/>
        <a:p>
          <a:endParaRPr lang="en-US"/>
        </a:p>
      </dgm:t>
    </dgm:pt>
    <dgm:pt modelId="{B1BEF0C0-80F5-4A73-9BF5-0385C3231163}" type="pres">
      <dgm:prSet presAssocID="{95536705-C03E-4A42-964D-86C42C421C16}" presName="Name0" presStyleCnt="0">
        <dgm:presLayoutVars>
          <dgm:dir/>
          <dgm:resizeHandles val="exact"/>
        </dgm:presLayoutVars>
      </dgm:prSet>
      <dgm:spPr/>
    </dgm:pt>
    <dgm:pt modelId="{BC0FE5E5-999E-400A-AAF1-1B652876359D}" type="pres">
      <dgm:prSet presAssocID="{F72ED28D-9C63-41DF-87AC-67F552116996}" presName="node" presStyleLbl="node1" presStyleIdx="0" presStyleCnt="3">
        <dgm:presLayoutVars>
          <dgm:bulletEnabled val="1"/>
        </dgm:presLayoutVars>
      </dgm:prSet>
      <dgm:spPr/>
    </dgm:pt>
    <dgm:pt modelId="{5423A6D5-8656-47D1-91C9-287EAC9E554C}" type="pres">
      <dgm:prSet presAssocID="{26B2F5D8-DD5D-46A3-ADAB-2E51ACF492F3}" presName="sibTrans" presStyleCnt="0"/>
      <dgm:spPr/>
    </dgm:pt>
    <dgm:pt modelId="{ED636A01-C304-4CCD-A218-21AF43C50D11}" type="pres">
      <dgm:prSet presAssocID="{9F83C8AD-03D5-4015-A670-F68A1A6F6D23}" presName="node" presStyleLbl="node1" presStyleIdx="1" presStyleCnt="3">
        <dgm:presLayoutVars>
          <dgm:bulletEnabled val="1"/>
        </dgm:presLayoutVars>
      </dgm:prSet>
      <dgm:spPr/>
    </dgm:pt>
    <dgm:pt modelId="{C0AD36FB-EBE7-4405-A98C-1CC1BAC80EF5}" type="pres">
      <dgm:prSet presAssocID="{3B790F02-66CD-417A-B2C5-1D7F6C724EB0}" presName="sibTrans" presStyleCnt="0"/>
      <dgm:spPr/>
    </dgm:pt>
    <dgm:pt modelId="{5916C486-B0FD-452B-A76B-6CB472ACB327}" type="pres">
      <dgm:prSet presAssocID="{E553A86C-BD3E-41FA-A6C1-E2D5F4F5AFD9}" presName="node" presStyleLbl="node1" presStyleIdx="2" presStyleCnt="3" custLinFactX="22110" custLinFactNeighborX="100000" custLinFactNeighborY="7976">
        <dgm:presLayoutVars>
          <dgm:bulletEnabled val="1"/>
        </dgm:presLayoutVars>
      </dgm:prSet>
      <dgm:spPr/>
    </dgm:pt>
  </dgm:ptLst>
  <dgm:cxnLst>
    <dgm:cxn modelId="{671F4707-1719-4235-BB66-7D67931875E8}" srcId="{95536705-C03E-4A42-964D-86C42C421C16}" destId="{9F83C8AD-03D5-4015-A670-F68A1A6F6D23}" srcOrd="1" destOrd="0" parTransId="{55B1E644-DD73-4D63-803F-C282653857EA}" sibTransId="{3B790F02-66CD-417A-B2C5-1D7F6C724EB0}"/>
    <dgm:cxn modelId="{031C6633-8053-467D-A5E4-80BFCD190E5B}" type="presOf" srcId="{E553A86C-BD3E-41FA-A6C1-E2D5F4F5AFD9}" destId="{5916C486-B0FD-452B-A76B-6CB472ACB327}" srcOrd="0" destOrd="0" presId="urn:microsoft.com/office/officeart/2005/8/layout/hList6"/>
    <dgm:cxn modelId="{55765C3B-108E-4BFB-A846-72A62099B8E1}" srcId="{9F83C8AD-03D5-4015-A670-F68A1A6F6D23}" destId="{65C04292-9298-4BFC-8CA4-870D367E37F2}" srcOrd="0" destOrd="0" parTransId="{D634E847-1263-467A-A550-517880CD327D}" sibTransId="{AFE18AD3-45E3-4189-9713-0194DC105461}"/>
    <dgm:cxn modelId="{0623A240-A33F-4DE8-B487-D23FDC86C18A}" srcId="{95536705-C03E-4A42-964D-86C42C421C16}" destId="{E553A86C-BD3E-41FA-A6C1-E2D5F4F5AFD9}" srcOrd="2" destOrd="0" parTransId="{54819638-1F09-4D65-9D6A-1856A5F40F00}" sibTransId="{9008E214-1C42-4E33-B389-99E20BE75E7C}"/>
    <dgm:cxn modelId="{88DB6147-E8A6-4435-AB87-B8C29DB1E8C3}" srcId="{95536705-C03E-4A42-964D-86C42C421C16}" destId="{F72ED28D-9C63-41DF-87AC-67F552116996}" srcOrd="0" destOrd="0" parTransId="{099B00F6-05EF-47F7-AF2D-01CCA0802041}" sibTransId="{26B2F5D8-DD5D-46A3-ADAB-2E51ACF492F3}"/>
    <dgm:cxn modelId="{3C69C348-05B9-4AF7-AABC-B5018608F998}" type="presOf" srcId="{9F83C8AD-03D5-4015-A670-F68A1A6F6D23}" destId="{ED636A01-C304-4CCD-A218-21AF43C50D11}" srcOrd="0" destOrd="0" presId="urn:microsoft.com/office/officeart/2005/8/layout/hList6"/>
    <dgm:cxn modelId="{4C28358D-F497-4A2B-B905-FD005C60FFBA}" type="presOf" srcId="{E445E001-F68C-49EE-BE61-B4957500FF4C}" destId="{BC0FE5E5-999E-400A-AAF1-1B652876359D}" srcOrd="0" destOrd="1" presId="urn:microsoft.com/office/officeart/2005/8/layout/hList6"/>
    <dgm:cxn modelId="{9595B990-EA7B-4006-A1E9-DF4C3338B5BF}" type="presOf" srcId="{95536705-C03E-4A42-964D-86C42C421C16}" destId="{B1BEF0C0-80F5-4A73-9BF5-0385C3231163}" srcOrd="0" destOrd="0" presId="urn:microsoft.com/office/officeart/2005/8/layout/hList6"/>
    <dgm:cxn modelId="{881D55A8-369B-4A08-9B4E-0062F76F6F07}" type="presOf" srcId="{0F5C2217-7797-49DE-9060-0A79512AEAA9}" destId="{5916C486-B0FD-452B-A76B-6CB472ACB327}" srcOrd="0" destOrd="1" presId="urn:microsoft.com/office/officeart/2005/8/layout/hList6"/>
    <dgm:cxn modelId="{A6F475B5-FB66-46E0-BB93-8AF7E22EFF03}" type="presOf" srcId="{F72ED28D-9C63-41DF-87AC-67F552116996}" destId="{BC0FE5E5-999E-400A-AAF1-1B652876359D}" srcOrd="0" destOrd="0" presId="urn:microsoft.com/office/officeart/2005/8/layout/hList6"/>
    <dgm:cxn modelId="{B7D8FDB9-028F-47B3-A6F3-34FEC351737F}" srcId="{E553A86C-BD3E-41FA-A6C1-E2D5F4F5AFD9}" destId="{0F5C2217-7797-49DE-9060-0A79512AEAA9}" srcOrd="0" destOrd="0" parTransId="{65BBAB4D-5F70-4B90-9A34-7AED6088E912}" sibTransId="{54CCB59A-61B1-478D-B770-28FBF0451266}"/>
    <dgm:cxn modelId="{E2230BC1-E65E-4DC3-8F3C-A5ED006C22AC}" type="presOf" srcId="{65C04292-9298-4BFC-8CA4-870D367E37F2}" destId="{ED636A01-C304-4CCD-A218-21AF43C50D11}" srcOrd="0" destOrd="1" presId="urn:microsoft.com/office/officeart/2005/8/layout/hList6"/>
    <dgm:cxn modelId="{507E27C1-3833-404F-96BD-FA5A14E758E2}" srcId="{F72ED28D-9C63-41DF-87AC-67F552116996}" destId="{E445E001-F68C-49EE-BE61-B4957500FF4C}" srcOrd="0" destOrd="0" parTransId="{9BC1904D-961A-4177-8DE8-DD280B856391}" sibTransId="{19EE90E9-BEEF-4A17-B1BC-A7972DB8EE65}"/>
    <dgm:cxn modelId="{DBE8848B-D3CE-4FAE-AEFB-997422F98A49}" type="presParOf" srcId="{B1BEF0C0-80F5-4A73-9BF5-0385C3231163}" destId="{BC0FE5E5-999E-400A-AAF1-1B652876359D}" srcOrd="0" destOrd="0" presId="urn:microsoft.com/office/officeart/2005/8/layout/hList6"/>
    <dgm:cxn modelId="{F958D24E-A19E-4858-AC0F-9131F0F3E3D5}" type="presParOf" srcId="{B1BEF0C0-80F5-4A73-9BF5-0385C3231163}" destId="{5423A6D5-8656-47D1-91C9-287EAC9E554C}" srcOrd="1" destOrd="0" presId="urn:microsoft.com/office/officeart/2005/8/layout/hList6"/>
    <dgm:cxn modelId="{D02869E7-1B24-43B5-A874-04F86F820154}" type="presParOf" srcId="{B1BEF0C0-80F5-4A73-9BF5-0385C3231163}" destId="{ED636A01-C304-4CCD-A218-21AF43C50D11}" srcOrd="2" destOrd="0" presId="urn:microsoft.com/office/officeart/2005/8/layout/hList6"/>
    <dgm:cxn modelId="{DD79AAC3-B5FA-4214-B3D0-EF5AD1526776}" type="presParOf" srcId="{B1BEF0C0-80F5-4A73-9BF5-0385C3231163}" destId="{C0AD36FB-EBE7-4405-A98C-1CC1BAC80EF5}" srcOrd="3" destOrd="0" presId="urn:microsoft.com/office/officeart/2005/8/layout/hList6"/>
    <dgm:cxn modelId="{3F83899C-C29B-4FCD-A811-7B7569B299B8}" type="presParOf" srcId="{B1BEF0C0-80F5-4A73-9BF5-0385C3231163}" destId="{5916C486-B0FD-452B-A76B-6CB472ACB327}" srcOrd="4" destOrd="0" presId="urn:microsoft.com/office/officeart/2005/8/layout/h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C18FBF-3FF5-4C16-97CF-AF03740D7AB6}" type="doc">
      <dgm:prSet loTypeId="urn:microsoft.com/office/officeart/2005/8/layout/hList9" loCatId="list" qsTypeId="urn:microsoft.com/office/officeart/2005/8/quickstyle/simple4" qsCatId="simple" csTypeId="urn:microsoft.com/office/officeart/2005/8/colors/accent1_2" csCatId="accent1" phldr="1"/>
      <dgm:spPr/>
      <dgm:t>
        <a:bodyPr/>
        <a:lstStyle/>
        <a:p>
          <a:endParaRPr lang="en-US"/>
        </a:p>
      </dgm:t>
    </dgm:pt>
    <dgm:pt modelId="{B4F1B46E-22B2-4721-950C-8704487586DC}">
      <dgm:prSet phldrT="[Text]"/>
      <dgm:spPr/>
      <dgm:t>
        <a:bodyPr/>
        <a:lstStyle/>
        <a:p>
          <a:r>
            <a:rPr lang="en-US" dirty="0"/>
            <a:t>Objective</a:t>
          </a:r>
        </a:p>
        <a:p>
          <a:r>
            <a:rPr lang="en-US" dirty="0"/>
            <a:t>1 </a:t>
          </a:r>
        </a:p>
      </dgm:t>
    </dgm:pt>
    <dgm:pt modelId="{E8A66543-CC4D-4785-A93E-5B125E09F826}" type="parTrans" cxnId="{2C8317B2-2EBB-4589-86EA-C77B3B6E81AA}">
      <dgm:prSet/>
      <dgm:spPr/>
      <dgm:t>
        <a:bodyPr/>
        <a:lstStyle/>
        <a:p>
          <a:endParaRPr lang="en-US"/>
        </a:p>
      </dgm:t>
    </dgm:pt>
    <dgm:pt modelId="{A7E2530A-34E2-4E9F-BC78-8920BA140C41}" type="sibTrans" cxnId="{2C8317B2-2EBB-4589-86EA-C77B3B6E81AA}">
      <dgm:prSet/>
      <dgm:spPr/>
      <dgm:t>
        <a:bodyPr/>
        <a:lstStyle/>
        <a:p>
          <a:endParaRPr lang="en-US"/>
        </a:p>
      </dgm:t>
    </dgm:pt>
    <dgm:pt modelId="{9D72CDD3-5859-43DB-BD75-0C3C30E3DE62}">
      <dgm:prSet phldrT="[Text]" custT="1"/>
      <dgm:spPr/>
      <dgm:t>
        <a:bodyPr/>
        <a:lstStyle/>
        <a:p>
          <a:r>
            <a:rPr lang="en-US" sz="1000" u="none" dirty="0">
              <a:uFillTx/>
            </a:rPr>
            <a:t>To investigate behavioral, statistical, and system-level features associated with early ransomware activity in network and endpoint environments. </a:t>
          </a:r>
          <a:endParaRPr lang="en-US" sz="1000" dirty="0"/>
        </a:p>
      </dgm:t>
    </dgm:pt>
    <dgm:pt modelId="{1D5B1F83-33A7-4298-BC11-2B1252AFAEA5}" type="parTrans" cxnId="{DDB5AD9A-40B0-48EF-AF2C-8CCDA330F7FE}">
      <dgm:prSet/>
      <dgm:spPr/>
      <dgm:t>
        <a:bodyPr/>
        <a:lstStyle/>
        <a:p>
          <a:endParaRPr lang="en-US"/>
        </a:p>
      </dgm:t>
    </dgm:pt>
    <dgm:pt modelId="{15E25BD4-1EBF-43C2-8885-DBF66B8429E1}" type="sibTrans" cxnId="{DDB5AD9A-40B0-48EF-AF2C-8CCDA330F7FE}">
      <dgm:prSet/>
      <dgm:spPr/>
      <dgm:t>
        <a:bodyPr/>
        <a:lstStyle/>
        <a:p>
          <a:endParaRPr lang="en-US"/>
        </a:p>
      </dgm:t>
    </dgm:pt>
    <dgm:pt modelId="{F2881FB1-6580-4F21-A283-BFAA6F91D5D2}">
      <dgm:prSet phldrT="[Text]"/>
      <dgm:spPr/>
      <dgm:t>
        <a:bodyPr/>
        <a:lstStyle/>
        <a:p>
          <a:r>
            <a:rPr lang="en-US" dirty="0"/>
            <a:t>Objective</a:t>
          </a:r>
        </a:p>
        <a:p>
          <a:r>
            <a:rPr lang="en-US" dirty="0"/>
            <a:t>2</a:t>
          </a:r>
        </a:p>
      </dgm:t>
    </dgm:pt>
    <dgm:pt modelId="{2D960FDD-BADA-480D-9043-497C56588AD3}" type="parTrans" cxnId="{4A31D641-1B5D-46D3-B685-0C4DC6EFE71B}">
      <dgm:prSet/>
      <dgm:spPr/>
      <dgm:t>
        <a:bodyPr/>
        <a:lstStyle/>
        <a:p>
          <a:endParaRPr lang="en-US"/>
        </a:p>
      </dgm:t>
    </dgm:pt>
    <dgm:pt modelId="{A5ABDC17-7AB5-4F0E-992A-F9343F5D74EB}" type="sibTrans" cxnId="{4A31D641-1B5D-46D3-B685-0C4DC6EFE71B}">
      <dgm:prSet/>
      <dgm:spPr/>
      <dgm:t>
        <a:bodyPr/>
        <a:lstStyle/>
        <a:p>
          <a:endParaRPr lang="en-US"/>
        </a:p>
      </dgm:t>
    </dgm:pt>
    <dgm:pt modelId="{D5197DDB-D5D2-499F-B255-CF7BB5AE2B43}">
      <dgm:prSet phldrT="[Text]" custT="1"/>
      <dgm:spPr/>
      <dgm:t>
        <a:bodyPr/>
        <a:lstStyle/>
        <a:p>
          <a:r>
            <a:rPr lang="en-US" sz="1000" u="none" dirty="0">
              <a:uFillTx/>
            </a:rPr>
            <a:t>To evaluate and compare the performance of different machine learning models (Random Forest, SVM, LSTM, CNN) for detecting known and zero-day ransomware variants. </a:t>
          </a:r>
          <a:endParaRPr lang="en-US" sz="1000" dirty="0"/>
        </a:p>
      </dgm:t>
    </dgm:pt>
    <dgm:pt modelId="{B14A4DC9-F40A-4867-ADB8-4BA8A1F83766}" type="parTrans" cxnId="{3204ED53-15A0-4643-A582-021A785F1BA2}">
      <dgm:prSet/>
      <dgm:spPr/>
      <dgm:t>
        <a:bodyPr/>
        <a:lstStyle/>
        <a:p>
          <a:endParaRPr lang="en-US"/>
        </a:p>
      </dgm:t>
    </dgm:pt>
    <dgm:pt modelId="{29F2454A-2FA8-4B3A-AC63-4A0B9FD04A75}" type="sibTrans" cxnId="{3204ED53-15A0-4643-A582-021A785F1BA2}">
      <dgm:prSet/>
      <dgm:spPr/>
      <dgm:t>
        <a:bodyPr/>
        <a:lstStyle/>
        <a:p>
          <a:endParaRPr lang="en-US"/>
        </a:p>
      </dgm:t>
    </dgm:pt>
    <dgm:pt modelId="{6352CA33-6755-44BE-808F-400DA4CF80A7}">
      <dgm:prSet phldrT="[Text]"/>
      <dgm:spPr/>
      <dgm:t>
        <a:bodyPr/>
        <a:lstStyle/>
        <a:p>
          <a:r>
            <a:rPr lang="en-US" dirty="0"/>
            <a:t>Objective</a:t>
          </a:r>
        </a:p>
        <a:p>
          <a:r>
            <a:rPr lang="en-US" dirty="0"/>
            <a:t>3</a:t>
          </a:r>
        </a:p>
      </dgm:t>
    </dgm:pt>
    <dgm:pt modelId="{AEB59203-63BA-4A96-BADC-40BAEBD9AA40}" type="parTrans" cxnId="{82BAE5DD-3A79-4870-9019-1254385E0650}">
      <dgm:prSet/>
      <dgm:spPr/>
      <dgm:t>
        <a:bodyPr/>
        <a:lstStyle/>
        <a:p>
          <a:endParaRPr lang="en-US"/>
        </a:p>
      </dgm:t>
    </dgm:pt>
    <dgm:pt modelId="{AAB4CF73-4B9B-4AA0-9074-16C2D2AE00A1}" type="sibTrans" cxnId="{82BAE5DD-3A79-4870-9019-1254385E0650}">
      <dgm:prSet/>
      <dgm:spPr/>
      <dgm:t>
        <a:bodyPr/>
        <a:lstStyle/>
        <a:p>
          <a:endParaRPr lang="en-US"/>
        </a:p>
      </dgm:t>
    </dgm:pt>
    <dgm:pt modelId="{9614A323-64B1-4077-A841-022051EC749A}">
      <dgm:prSet phldrT="[Text]" custT="1"/>
      <dgm:spPr/>
      <dgm:t>
        <a:bodyPr/>
        <a:lstStyle/>
        <a:p>
          <a:r>
            <a:rPr lang="en-US" sz="1000" u="none" dirty="0">
              <a:uFillTx/>
            </a:rPr>
            <a:t>To analyze how training dataset quality, feature selection, and adversarial robustness affect the accuracy and false-positive rates of ML-based detection systems. </a:t>
          </a:r>
          <a:endParaRPr lang="en-US" sz="1000" dirty="0"/>
        </a:p>
      </dgm:t>
    </dgm:pt>
    <dgm:pt modelId="{E5F6BCBD-B84E-4018-BE9E-BF57FF3B4B36}" type="parTrans" cxnId="{FC7BD086-74EA-4D6C-9657-E916D355F209}">
      <dgm:prSet/>
      <dgm:spPr/>
      <dgm:t>
        <a:bodyPr/>
        <a:lstStyle/>
        <a:p>
          <a:endParaRPr lang="en-US"/>
        </a:p>
      </dgm:t>
    </dgm:pt>
    <dgm:pt modelId="{FEC2A79F-8857-403A-A738-E8CE75C965E2}" type="sibTrans" cxnId="{FC7BD086-74EA-4D6C-9657-E916D355F209}">
      <dgm:prSet/>
      <dgm:spPr/>
      <dgm:t>
        <a:bodyPr/>
        <a:lstStyle/>
        <a:p>
          <a:endParaRPr lang="en-US"/>
        </a:p>
      </dgm:t>
    </dgm:pt>
    <dgm:pt modelId="{0DC7A063-583D-4B0F-88B2-BD54F95D95AF}" type="pres">
      <dgm:prSet presAssocID="{00C18FBF-3FF5-4C16-97CF-AF03740D7AB6}" presName="list" presStyleCnt="0">
        <dgm:presLayoutVars>
          <dgm:dir/>
          <dgm:animLvl val="lvl"/>
        </dgm:presLayoutVars>
      </dgm:prSet>
      <dgm:spPr/>
    </dgm:pt>
    <dgm:pt modelId="{3B23570A-ECC9-4DF8-BCB4-0465C69CBB88}" type="pres">
      <dgm:prSet presAssocID="{B4F1B46E-22B2-4721-950C-8704487586DC}" presName="posSpace" presStyleCnt="0"/>
      <dgm:spPr/>
    </dgm:pt>
    <dgm:pt modelId="{FC66A233-6BBA-46AF-B2F6-28E379B158E2}" type="pres">
      <dgm:prSet presAssocID="{B4F1B46E-22B2-4721-950C-8704487586DC}" presName="vertFlow" presStyleCnt="0"/>
      <dgm:spPr/>
    </dgm:pt>
    <dgm:pt modelId="{46739A04-1AA3-49C6-8EA7-EB1DE975B900}" type="pres">
      <dgm:prSet presAssocID="{B4F1B46E-22B2-4721-950C-8704487586DC}" presName="topSpace" presStyleCnt="0"/>
      <dgm:spPr/>
    </dgm:pt>
    <dgm:pt modelId="{535C6EC9-8098-42C5-8527-E62FF045E4EB}" type="pres">
      <dgm:prSet presAssocID="{B4F1B46E-22B2-4721-950C-8704487586DC}" presName="firstComp" presStyleCnt="0"/>
      <dgm:spPr/>
    </dgm:pt>
    <dgm:pt modelId="{6B08AC4B-4CEC-41E5-AE19-47A4E2720563}" type="pres">
      <dgm:prSet presAssocID="{B4F1B46E-22B2-4721-950C-8704487586DC}" presName="firstChild" presStyleLbl="bgAccFollowNode1" presStyleIdx="0" presStyleCnt="3" custScaleX="105343" custScaleY="260279"/>
      <dgm:spPr/>
    </dgm:pt>
    <dgm:pt modelId="{187D4E8C-5C91-4D00-870C-2C45D4EA263C}" type="pres">
      <dgm:prSet presAssocID="{B4F1B46E-22B2-4721-950C-8704487586DC}" presName="firstChildTx" presStyleLbl="bgAccFollowNode1" presStyleIdx="0" presStyleCnt="3">
        <dgm:presLayoutVars>
          <dgm:bulletEnabled val="1"/>
        </dgm:presLayoutVars>
      </dgm:prSet>
      <dgm:spPr/>
    </dgm:pt>
    <dgm:pt modelId="{3845DB9A-BEF3-4D5D-B9C7-5FC0456401AC}" type="pres">
      <dgm:prSet presAssocID="{B4F1B46E-22B2-4721-950C-8704487586DC}" presName="negSpace" presStyleCnt="0"/>
      <dgm:spPr/>
    </dgm:pt>
    <dgm:pt modelId="{FC7ED273-8CFD-43C2-9C05-44FADF3E0637}" type="pres">
      <dgm:prSet presAssocID="{B4F1B46E-22B2-4721-950C-8704487586DC}" presName="circle" presStyleLbl="node1" presStyleIdx="0" presStyleCnt="3"/>
      <dgm:spPr/>
    </dgm:pt>
    <dgm:pt modelId="{13C564B0-C27E-4ABA-AFDA-59E145B256BA}" type="pres">
      <dgm:prSet presAssocID="{A7E2530A-34E2-4E9F-BC78-8920BA140C41}" presName="transSpace" presStyleCnt="0"/>
      <dgm:spPr/>
    </dgm:pt>
    <dgm:pt modelId="{6300E233-87DF-4270-9808-160BFEB8A5BE}" type="pres">
      <dgm:prSet presAssocID="{F2881FB1-6580-4F21-A283-BFAA6F91D5D2}" presName="posSpace" presStyleCnt="0"/>
      <dgm:spPr/>
    </dgm:pt>
    <dgm:pt modelId="{6E53DEF7-499E-42EE-802D-59B2F8915392}" type="pres">
      <dgm:prSet presAssocID="{F2881FB1-6580-4F21-A283-BFAA6F91D5D2}" presName="vertFlow" presStyleCnt="0"/>
      <dgm:spPr/>
    </dgm:pt>
    <dgm:pt modelId="{E08C30D1-35EA-4D05-9731-5D01E3FCBD09}" type="pres">
      <dgm:prSet presAssocID="{F2881FB1-6580-4F21-A283-BFAA6F91D5D2}" presName="topSpace" presStyleCnt="0"/>
      <dgm:spPr/>
    </dgm:pt>
    <dgm:pt modelId="{2F3BD88A-9166-4A26-B941-B9BAEE1A11D5}" type="pres">
      <dgm:prSet presAssocID="{F2881FB1-6580-4F21-A283-BFAA6F91D5D2}" presName="firstComp" presStyleCnt="0"/>
      <dgm:spPr/>
    </dgm:pt>
    <dgm:pt modelId="{F660F4B9-35DB-4256-A868-A35C6DCCF6B2}" type="pres">
      <dgm:prSet presAssocID="{F2881FB1-6580-4F21-A283-BFAA6F91D5D2}" presName="firstChild" presStyleLbl="bgAccFollowNode1" presStyleIdx="1" presStyleCnt="3" custScaleX="102362" custScaleY="282292"/>
      <dgm:spPr/>
    </dgm:pt>
    <dgm:pt modelId="{10C9E3CF-3A8F-4100-8ACD-91E2373197A2}" type="pres">
      <dgm:prSet presAssocID="{F2881FB1-6580-4F21-A283-BFAA6F91D5D2}" presName="firstChildTx" presStyleLbl="bgAccFollowNode1" presStyleIdx="1" presStyleCnt="3">
        <dgm:presLayoutVars>
          <dgm:bulletEnabled val="1"/>
        </dgm:presLayoutVars>
      </dgm:prSet>
      <dgm:spPr/>
    </dgm:pt>
    <dgm:pt modelId="{69136330-53DB-4978-A56B-160862279381}" type="pres">
      <dgm:prSet presAssocID="{F2881FB1-6580-4F21-A283-BFAA6F91D5D2}" presName="negSpace" presStyleCnt="0"/>
      <dgm:spPr/>
    </dgm:pt>
    <dgm:pt modelId="{FD776C1E-557E-4553-9447-49B69EEC7907}" type="pres">
      <dgm:prSet presAssocID="{F2881FB1-6580-4F21-A283-BFAA6F91D5D2}" presName="circle" presStyleLbl="node1" presStyleIdx="1" presStyleCnt="3"/>
      <dgm:spPr/>
    </dgm:pt>
    <dgm:pt modelId="{FC2522F1-14BB-4B37-B60E-2E8A7E8A6C30}" type="pres">
      <dgm:prSet presAssocID="{A5ABDC17-7AB5-4F0E-992A-F9343F5D74EB}" presName="transSpace" presStyleCnt="0"/>
      <dgm:spPr/>
    </dgm:pt>
    <dgm:pt modelId="{2C2F6211-85A7-47FE-9239-DE94DF41A263}" type="pres">
      <dgm:prSet presAssocID="{6352CA33-6755-44BE-808F-400DA4CF80A7}" presName="posSpace" presStyleCnt="0"/>
      <dgm:spPr/>
    </dgm:pt>
    <dgm:pt modelId="{7B0C2EAE-70CB-4160-863D-210C3C66D5FD}" type="pres">
      <dgm:prSet presAssocID="{6352CA33-6755-44BE-808F-400DA4CF80A7}" presName="vertFlow" presStyleCnt="0"/>
      <dgm:spPr/>
    </dgm:pt>
    <dgm:pt modelId="{5AF3752E-55A6-443C-AD35-C49DF50A4566}" type="pres">
      <dgm:prSet presAssocID="{6352CA33-6755-44BE-808F-400DA4CF80A7}" presName="topSpace" presStyleCnt="0"/>
      <dgm:spPr/>
    </dgm:pt>
    <dgm:pt modelId="{53567A66-F0E9-4EF8-ADA9-764BA36AA6A9}" type="pres">
      <dgm:prSet presAssocID="{6352CA33-6755-44BE-808F-400DA4CF80A7}" presName="firstComp" presStyleCnt="0"/>
      <dgm:spPr/>
    </dgm:pt>
    <dgm:pt modelId="{AD2806AC-6A03-4F05-9F4D-F72EA0E56FBF}" type="pres">
      <dgm:prSet presAssocID="{6352CA33-6755-44BE-808F-400DA4CF80A7}" presName="firstChild" presStyleLbl="bgAccFollowNode1" presStyleIdx="2" presStyleCnt="3" custScaleY="326212"/>
      <dgm:spPr/>
    </dgm:pt>
    <dgm:pt modelId="{F8977219-728E-448F-AE8B-46B14F4F17DE}" type="pres">
      <dgm:prSet presAssocID="{6352CA33-6755-44BE-808F-400DA4CF80A7}" presName="firstChildTx" presStyleLbl="bgAccFollowNode1" presStyleIdx="2" presStyleCnt="3">
        <dgm:presLayoutVars>
          <dgm:bulletEnabled val="1"/>
        </dgm:presLayoutVars>
      </dgm:prSet>
      <dgm:spPr/>
    </dgm:pt>
    <dgm:pt modelId="{FBCC4E74-37C0-494F-ABC0-7D18132E1437}" type="pres">
      <dgm:prSet presAssocID="{6352CA33-6755-44BE-808F-400DA4CF80A7}" presName="negSpace" presStyleCnt="0"/>
      <dgm:spPr/>
    </dgm:pt>
    <dgm:pt modelId="{89E6DA6E-7A23-44BD-8A99-378091FF741D}" type="pres">
      <dgm:prSet presAssocID="{6352CA33-6755-44BE-808F-400DA4CF80A7}" presName="circle" presStyleLbl="node1" presStyleIdx="2" presStyleCnt="3"/>
      <dgm:spPr/>
    </dgm:pt>
  </dgm:ptLst>
  <dgm:cxnLst>
    <dgm:cxn modelId="{20AF3F0D-FCCC-4AE8-8B10-DDA56D69A389}" type="presOf" srcId="{6352CA33-6755-44BE-808F-400DA4CF80A7}" destId="{89E6DA6E-7A23-44BD-8A99-378091FF741D}" srcOrd="0" destOrd="0" presId="urn:microsoft.com/office/officeart/2005/8/layout/hList9"/>
    <dgm:cxn modelId="{7F3B5912-CE3A-4F69-B6A0-82162798FA63}" type="presOf" srcId="{00C18FBF-3FF5-4C16-97CF-AF03740D7AB6}" destId="{0DC7A063-583D-4B0F-88B2-BD54F95D95AF}" srcOrd="0" destOrd="0" presId="urn:microsoft.com/office/officeart/2005/8/layout/hList9"/>
    <dgm:cxn modelId="{9740321C-35B3-4F5F-BD46-905CB7B8FAEB}" type="presOf" srcId="{9614A323-64B1-4077-A841-022051EC749A}" destId="{AD2806AC-6A03-4F05-9F4D-F72EA0E56FBF}" srcOrd="0" destOrd="0" presId="urn:microsoft.com/office/officeart/2005/8/layout/hList9"/>
    <dgm:cxn modelId="{70AA2139-FA57-4EAA-83C0-CFBB31F3B2CD}" type="presOf" srcId="{9D72CDD3-5859-43DB-BD75-0C3C30E3DE62}" destId="{187D4E8C-5C91-4D00-870C-2C45D4EA263C}" srcOrd="1" destOrd="0" presId="urn:microsoft.com/office/officeart/2005/8/layout/hList9"/>
    <dgm:cxn modelId="{4A31D641-1B5D-46D3-B685-0C4DC6EFE71B}" srcId="{00C18FBF-3FF5-4C16-97CF-AF03740D7AB6}" destId="{F2881FB1-6580-4F21-A283-BFAA6F91D5D2}" srcOrd="1" destOrd="0" parTransId="{2D960FDD-BADA-480D-9043-497C56588AD3}" sibTransId="{A5ABDC17-7AB5-4F0E-992A-F9343F5D74EB}"/>
    <dgm:cxn modelId="{3204ED53-15A0-4643-A582-021A785F1BA2}" srcId="{F2881FB1-6580-4F21-A283-BFAA6F91D5D2}" destId="{D5197DDB-D5D2-499F-B255-CF7BB5AE2B43}" srcOrd="0" destOrd="0" parTransId="{B14A4DC9-F40A-4867-ADB8-4BA8A1F83766}" sibTransId="{29F2454A-2FA8-4B3A-AC63-4A0B9FD04A75}"/>
    <dgm:cxn modelId="{FC7BD086-74EA-4D6C-9657-E916D355F209}" srcId="{6352CA33-6755-44BE-808F-400DA4CF80A7}" destId="{9614A323-64B1-4077-A841-022051EC749A}" srcOrd="0" destOrd="0" parTransId="{E5F6BCBD-B84E-4018-BE9E-BF57FF3B4B36}" sibTransId="{FEC2A79F-8857-403A-A738-E8CE75C965E2}"/>
    <dgm:cxn modelId="{B736D792-8630-4423-BF25-ED6293A18ADD}" type="presOf" srcId="{9614A323-64B1-4077-A841-022051EC749A}" destId="{F8977219-728E-448F-AE8B-46B14F4F17DE}" srcOrd="1" destOrd="0" presId="urn:microsoft.com/office/officeart/2005/8/layout/hList9"/>
    <dgm:cxn modelId="{DDB5AD9A-40B0-48EF-AF2C-8CCDA330F7FE}" srcId="{B4F1B46E-22B2-4721-950C-8704487586DC}" destId="{9D72CDD3-5859-43DB-BD75-0C3C30E3DE62}" srcOrd="0" destOrd="0" parTransId="{1D5B1F83-33A7-4298-BC11-2B1252AFAEA5}" sibTransId="{15E25BD4-1EBF-43C2-8885-DBF66B8429E1}"/>
    <dgm:cxn modelId="{2C8317B2-2EBB-4589-86EA-C77B3B6E81AA}" srcId="{00C18FBF-3FF5-4C16-97CF-AF03740D7AB6}" destId="{B4F1B46E-22B2-4721-950C-8704487586DC}" srcOrd="0" destOrd="0" parTransId="{E8A66543-CC4D-4785-A93E-5B125E09F826}" sibTransId="{A7E2530A-34E2-4E9F-BC78-8920BA140C41}"/>
    <dgm:cxn modelId="{2DF4FDC6-9998-45E2-B49B-7BDDAE43878E}" type="presOf" srcId="{B4F1B46E-22B2-4721-950C-8704487586DC}" destId="{FC7ED273-8CFD-43C2-9C05-44FADF3E0637}" srcOrd="0" destOrd="0" presId="urn:microsoft.com/office/officeart/2005/8/layout/hList9"/>
    <dgm:cxn modelId="{A587C2CB-6562-4021-B4BF-D479DBE9444F}" type="presOf" srcId="{D5197DDB-D5D2-499F-B255-CF7BB5AE2B43}" destId="{F660F4B9-35DB-4256-A868-A35C6DCCF6B2}" srcOrd="0" destOrd="0" presId="urn:microsoft.com/office/officeart/2005/8/layout/hList9"/>
    <dgm:cxn modelId="{77F620CE-FC2D-42CF-890C-6A28A43BA06E}" type="presOf" srcId="{F2881FB1-6580-4F21-A283-BFAA6F91D5D2}" destId="{FD776C1E-557E-4553-9447-49B69EEC7907}" srcOrd="0" destOrd="0" presId="urn:microsoft.com/office/officeart/2005/8/layout/hList9"/>
    <dgm:cxn modelId="{AACC54D1-0243-46E9-9624-A663799E8A06}" type="presOf" srcId="{9D72CDD3-5859-43DB-BD75-0C3C30E3DE62}" destId="{6B08AC4B-4CEC-41E5-AE19-47A4E2720563}" srcOrd="0" destOrd="0" presId="urn:microsoft.com/office/officeart/2005/8/layout/hList9"/>
    <dgm:cxn modelId="{82BAE5DD-3A79-4870-9019-1254385E0650}" srcId="{00C18FBF-3FF5-4C16-97CF-AF03740D7AB6}" destId="{6352CA33-6755-44BE-808F-400DA4CF80A7}" srcOrd="2" destOrd="0" parTransId="{AEB59203-63BA-4A96-BADC-40BAEBD9AA40}" sibTransId="{AAB4CF73-4B9B-4AA0-9074-16C2D2AE00A1}"/>
    <dgm:cxn modelId="{59E871E8-E7D2-4CCC-B749-A714977AF5E6}" type="presOf" srcId="{D5197DDB-D5D2-499F-B255-CF7BB5AE2B43}" destId="{10C9E3CF-3A8F-4100-8ACD-91E2373197A2}" srcOrd="1" destOrd="0" presId="urn:microsoft.com/office/officeart/2005/8/layout/hList9"/>
    <dgm:cxn modelId="{E1D1E23B-EC87-45CC-9E87-38B27A23764D}" type="presParOf" srcId="{0DC7A063-583D-4B0F-88B2-BD54F95D95AF}" destId="{3B23570A-ECC9-4DF8-BCB4-0465C69CBB88}" srcOrd="0" destOrd="0" presId="urn:microsoft.com/office/officeart/2005/8/layout/hList9"/>
    <dgm:cxn modelId="{82537023-5CD7-4BB7-84CF-DE8196338CF2}" type="presParOf" srcId="{0DC7A063-583D-4B0F-88B2-BD54F95D95AF}" destId="{FC66A233-6BBA-46AF-B2F6-28E379B158E2}" srcOrd="1" destOrd="0" presId="urn:microsoft.com/office/officeart/2005/8/layout/hList9"/>
    <dgm:cxn modelId="{5DFED7C8-2E54-4441-B032-3A4788B2A8D3}" type="presParOf" srcId="{FC66A233-6BBA-46AF-B2F6-28E379B158E2}" destId="{46739A04-1AA3-49C6-8EA7-EB1DE975B900}" srcOrd="0" destOrd="0" presId="urn:microsoft.com/office/officeart/2005/8/layout/hList9"/>
    <dgm:cxn modelId="{59D81910-4316-4EAE-9A67-0B3EDF027306}" type="presParOf" srcId="{FC66A233-6BBA-46AF-B2F6-28E379B158E2}" destId="{535C6EC9-8098-42C5-8527-E62FF045E4EB}" srcOrd="1" destOrd="0" presId="urn:microsoft.com/office/officeart/2005/8/layout/hList9"/>
    <dgm:cxn modelId="{C4FBC461-0B5D-4B7E-9CAF-A88B1223F18A}" type="presParOf" srcId="{535C6EC9-8098-42C5-8527-E62FF045E4EB}" destId="{6B08AC4B-4CEC-41E5-AE19-47A4E2720563}" srcOrd="0" destOrd="0" presId="urn:microsoft.com/office/officeart/2005/8/layout/hList9"/>
    <dgm:cxn modelId="{16A1B336-CE68-4171-8D18-284543992BEA}" type="presParOf" srcId="{535C6EC9-8098-42C5-8527-E62FF045E4EB}" destId="{187D4E8C-5C91-4D00-870C-2C45D4EA263C}" srcOrd="1" destOrd="0" presId="urn:microsoft.com/office/officeart/2005/8/layout/hList9"/>
    <dgm:cxn modelId="{DEF99A7A-98F1-424D-AC92-7C6B69A0E544}" type="presParOf" srcId="{0DC7A063-583D-4B0F-88B2-BD54F95D95AF}" destId="{3845DB9A-BEF3-4D5D-B9C7-5FC0456401AC}" srcOrd="2" destOrd="0" presId="urn:microsoft.com/office/officeart/2005/8/layout/hList9"/>
    <dgm:cxn modelId="{ACD8FD0D-39C9-49DB-B77E-B03522FDF5FC}" type="presParOf" srcId="{0DC7A063-583D-4B0F-88B2-BD54F95D95AF}" destId="{FC7ED273-8CFD-43C2-9C05-44FADF3E0637}" srcOrd="3" destOrd="0" presId="urn:microsoft.com/office/officeart/2005/8/layout/hList9"/>
    <dgm:cxn modelId="{2C72EC61-81F4-4DCD-A533-255CBC66AE34}" type="presParOf" srcId="{0DC7A063-583D-4B0F-88B2-BD54F95D95AF}" destId="{13C564B0-C27E-4ABA-AFDA-59E145B256BA}" srcOrd="4" destOrd="0" presId="urn:microsoft.com/office/officeart/2005/8/layout/hList9"/>
    <dgm:cxn modelId="{775600F8-FCFE-4862-8108-85F84EA9DEE2}" type="presParOf" srcId="{0DC7A063-583D-4B0F-88B2-BD54F95D95AF}" destId="{6300E233-87DF-4270-9808-160BFEB8A5BE}" srcOrd="5" destOrd="0" presId="urn:microsoft.com/office/officeart/2005/8/layout/hList9"/>
    <dgm:cxn modelId="{AE3B7A69-67E7-41D2-BC1A-3586A3CC259D}" type="presParOf" srcId="{0DC7A063-583D-4B0F-88B2-BD54F95D95AF}" destId="{6E53DEF7-499E-42EE-802D-59B2F8915392}" srcOrd="6" destOrd="0" presId="urn:microsoft.com/office/officeart/2005/8/layout/hList9"/>
    <dgm:cxn modelId="{76A9B804-07B5-4060-AA61-249A1765ECB9}" type="presParOf" srcId="{6E53DEF7-499E-42EE-802D-59B2F8915392}" destId="{E08C30D1-35EA-4D05-9731-5D01E3FCBD09}" srcOrd="0" destOrd="0" presId="urn:microsoft.com/office/officeart/2005/8/layout/hList9"/>
    <dgm:cxn modelId="{6162898E-21FD-497B-BFEE-B78CF45F7D9A}" type="presParOf" srcId="{6E53DEF7-499E-42EE-802D-59B2F8915392}" destId="{2F3BD88A-9166-4A26-B941-B9BAEE1A11D5}" srcOrd="1" destOrd="0" presId="urn:microsoft.com/office/officeart/2005/8/layout/hList9"/>
    <dgm:cxn modelId="{71D4EFDE-15BC-4327-9242-5F72F9DAFAD4}" type="presParOf" srcId="{2F3BD88A-9166-4A26-B941-B9BAEE1A11D5}" destId="{F660F4B9-35DB-4256-A868-A35C6DCCF6B2}" srcOrd="0" destOrd="0" presId="urn:microsoft.com/office/officeart/2005/8/layout/hList9"/>
    <dgm:cxn modelId="{9B414BA4-2018-40DF-8E7D-AD7E78EF0217}" type="presParOf" srcId="{2F3BD88A-9166-4A26-B941-B9BAEE1A11D5}" destId="{10C9E3CF-3A8F-4100-8ACD-91E2373197A2}" srcOrd="1" destOrd="0" presId="urn:microsoft.com/office/officeart/2005/8/layout/hList9"/>
    <dgm:cxn modelId="{D8406746-50BE-425E-A523-9ED524500743}" type="presParOf" srcId="{0DC7A063-583D-4B0F-88B2-BD54F95D95AF}" destId="{69136330-53DB-4978-A56B-160862279381}" srcOrd="7" destOrd="0" presId="urn:microsoft.com/office/officeart/2005/8/layout/hList9"/>
    <dgm:cxn modelId="{A91BC494-75AC-4CCA-8CC1-7E9884C2F3AD}" type="presParOf" srcId="{0DC7A063-583D-4B0F-88B2-BD54F95D95AF}" destId="{FD776C1E-557E-4553-9447-49B69EEC7907}" srcOrd="8" destOrd="0" presId="urn:microsoft.com/office/officeart/2005/8/layout/hList9"/>
    <dgm:cxn modelId="{487F9920-08DF-4AC5-BA64-D35F42602B66}" type="presParOf" srcId="{0DC7A063-583D-4B0F-88B2-BD54F95D95AF}" destId="{FC2522F1-14BB-4B37-B60E-2E8A7E8A6C30}" srcOrd="9" destOrd="0" presId="urn:microsoft.com/office/officeart/2005/8/layout/hList9"/>
    <dgm:cxn modelId="{DC194D92-7E98-42DD-A8CA-BCD1EDD2C95D}" type="presParOf" srcId="{0DC7A063-583D-4B0F-88B2-BD54F95D95AF}" destId="{2C2F6211-85A7-47FE-9239-DE94DF41A263}" srcOrd="10" destOrd="0" presId="urn:microsoft.com/office/officeart/2005/8/layout/hList9"/>
    <dgm:cxn modelId="{575F4FD6-9E0F-4F5E-88EE-9B265B6FD4F4}" type="presParOf" srcId="{0DC7A063-583D-4B0F-88B2-BD54F95D95AF}" destId="{7B0C2EAE-70CB-4160-863D-210C3C66D5FD}" srcOrd="11" destOrd="0" presId="urn:microsoft.com/office/officeart/2005/8/layout/hList9"/>
    <dgm:cxn modelId="{8AE96C49-A416-4FC7-84EE-2BDAF35C57FF}" type="presParOf" srcId="{7B0C2EAE-70CB-4160-863D-210C3C66D5FD}" destId="{5AF3752E-55A6-443C-AD35-C49DF50A4566}" srcOrd="0" destOrd="0" presId="urn:microsoft.com/office/officeart/2005/8/layout/hList9"/>
    <dgm:cxn modelId="{235B263C-399E-4245-95BD-2AA1F19D4AB4}" type="presParOf" srcId="{7B0C2EAE-70CB-4160-863D-210C3C66D5FD}" destId="{53567A66-F0E9-4EF8-ADA9-764BA36AA6A9}" srcOrd="1" destOrd="0" presId="urn:microsoft.com/office/officeart/2005/8/layout/hList9"/>
    <dgm:cxn modelId="{265DA8D6-D429-4956-8CB8-10EE7EF20F0C}" type="presParOf" srcId="{53567A66-F0E9-4EF8-ADA9-764BA36AA6A9}" destId="{AD2806AC-6A03-4F05-9F4D-F72EA0E56FBF}" srcOrd="0" destOrd="0" presId="urn:microsoft.com/office/officeart/2005/8/layout/hList9"/>
    <dgm:cxn modelId="{35A8C2CA-EB30-45FD-8152-A7470BE42B4C}" type="presParOf" srcId="{53567A66-F0E9-4EF8-ADA9-764BA36AA6A9}" destId="{F8977219-728E-448F-AE8B-46B14F4F17DE}" srcOrd="1" destOrd="0" presId="urn:microsoft.com/office/officeart/2005/8/layout/hList9"/>
    <dgm:cxn modelId="{EF3F399A-E096-436A-AD74-CF747D62B02A}" type="presParOf" srcId="{0DC7A063-583D-4B0F-88B2-BD54F95D95AF}" destId="{FBCC4E74-37C0-494F-ABC0-7D18132E1437}" srcOrd="12" destOrd="0" presId="urn:microsoft.com/office/officeart/2005/8/layout/hList9"/>
    <dgm:cxn modelId="{5EA17F20-F6C6-4B5A-AFEB-38BD8F975065}" type="presParOf" srcId="{0DC7A063-583D-4B0F-88B2-BD54F95D95AF}" destId="{89E6DA6E-7A23-44BD-8A99-378091FF741D}" srcOrd="1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65508E-B830-414E-895A-A8F2B1A3F817}"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1C0D01CE-9ACA-438F-A9C6-D0C5996320C3}">
      <dgm:prSet phldrT="[Text]"/>
      <dgm:spPr/>
      <dgm:t>
        <a:bodyPr/>
        <a:lstStyle/>
        <a:p>
          <a:r>
            <a:rPr lang="en-US" dirty="0"/>
            <a:t>Research variables</a:t>
          </a:r>
        </a:p>
      </dgm:t>
    </dgm:pt>
    <dgm:pt modelId="{03908447-0A93-4495-9CE9-9B6F3C348423}" type="parTrans" cxnId="{C9CA4C3D-CCB4-464A-BAC3-7A8E4A89D07D}">
      <dgm:prSet/>
      <dgm:spPr/>
      <dgm:t>
        <a:bodyPr/>
        <a:lstStyle/>
        <a:p>
          <a:endParaRPr lang="en-US"/>
        </a:p>
      </dgm:t>
    </dgm:pt>
    <dgm:pt modelId="{D1392AE6-A6B3-4DC1-A4BF-4210DF1CEE82}" type="sibTrans" cxnId="{C9CA4C3D-CCB4-464A-BAC3-7A8E4A89D07D}">
      <dgm:prSet/>
      <dgm:spPr/>
      <dgm:t>
        <a:bodyPr/>
        <a:lstStyle/>
        <a:p>
          <a:endParaRPr lang="en-US"/>
        </a:p>
      </dgm:t>
    </dgm:pt>
    <dgm:pt modelId="{CEAA3450-E292-4F98-960F-63F47F8072E9}">
      <dgm:prSet phldrT="[Text]"/>
      <dgm:spPr/>
      <dgm:t>
        <a:bodyPr/>
        <a:lstStyle/>
        <a:p>
          <a:pPr>
            <a:buNone/>
          </a:pPr>
          <a:r>
            <a:rPr lang="en-US" dirty="0"/>
            <a:t>Independent Variable</a:t>
          </a:r>
        </a:p>
      </dgm:t>
    </dgm:pt>
    <dgm:pt modelId="{15E1ABB2-D0F9-4817-ABB5-CD1C1BA94634}" type="parTrans" cxnId="{42C9F85D-4103-44B3-AF0E-A46EC8F983EB}">
      <dgm:prSet/>
      <dgm:spPr/>
      <dgm:t>
        <a:bodyPr/>
        <a:lstStyle/>
        <a:p>
          <a:endParaRPr lang="en-US"/>
        </a:p>
      </dgm:t>
    </dgm:pt>
    <dgm:pt modelId="{60C26448-B93A-4BD3-9720-F6FA85C1F4A5}" type="sibTrans" cxnId="{42C9F85D-4103-44B3-AF0E-A46EC8F983EB}">
      <dgm:prSet/>
      <dgm:spPr/>
      <dgm:t>
        <a:bodyPr/>
        <a:lstStyle/>
        <a:p>
          <a:endParaRPr lang="en-US"/>
        </a:p>
      </dgm:t>
    </dgm:pt>
    <dgm:pt modelId="{65862A79-FDE9-435E-9C74-78CB12785062}">
      <dgm:prSet phldrT="[Text]"/>
      <dgm:spPr/>
      <dgm:t>
        <a:bodyPr/>
        <a:lstStyle/>
        <a:p>
          <a:pPr>
            <a:buNone/>
          </a:pPr>
          <a:r>
            <a:rPr lang="en-US" b="1" dirty="0"/>
            <a:t>Dependent Variable</a:t>
          </a:r>
          <a:r>
            <a:rPr lang="en-US" dirty="0"/>
            <a:t> </a:t>
          </a:r>
        </a:p>
      </dgm:t>
    </dgm:pt>
    <dgm:pt modelId="{E1251760-EFBF-42DD-B5D0-041FE1AAFED9}" type="parTrans" cxnId="{79E70B79-735D-40B6-A5FC-607F21776B62}">
      <dgm:prSet/>
      <dgm:spPr/>
      <dgm:t>
        <a:bodyPr/>
        <a:lstStyle/>
        <a:p>
          <a:endParaRPr lang="en-US"/>
        </a:p>
      </dgm:t>
    </dgm:pt>
    <dgm:pt modelId="{7E966BEA-F2EA-4DF1-8CFB-6C5B0B1C85AB}" type="sibTrans" cxnId="{79E70B79-735D-40B6-A5FC-607F21776B62}">
      <dgm:prSet/>
      <dgm:spPr/>
      <dgm:t>
        <a:bodyPr/>
        <a:lstStyle/>
        <a:p>
          <a:endParaRPr lang="en-US"/>
        </a:p>
      </dgm:t>
    </dgm:pt>
    <dgm:pt modelId="{BF0ADDCA-E46E-43C9-9E99-4C4DFCD0CBB1}">
      <dgm:prSet phldrT="[Text]"/>
      <dgm:spPr/>
      <dgm:t>
        <a:bodyPr/>
        <a:lstStyle/>
        <a:p>
          <a:pPr>
            <a:buNone/>
          </a:pPr>
          <a:r>
            <a:rPr lang="en-US" b="1" dirty="0"/>
            <a:t>Control Variables</a:t>
          </a:r>
          <a:endParaRPr lang="en-US" dirty="0"/>
        </a:p>
      </dgm:t>
    </dgm:pt>
    <dgm:pt modelId="{2DB50E0E-481C-4CB5-873B-925BC954E895}" type="parTrans" cxnId="{4E67E0C4-454F-4953-80F8-F05B9F29698E}">
      <dgm:prSet/>
      <dgm:spPr/>
      <dgm:t>
        <a:bodyPr/>
        <a:lstStyle/>
        <a:p>
          <a:endParaRPr lang="en-US"/>
        </a:p>
      </dgm:t>
    </dgm:pt>
    <dgm:pt modelId="{465D15F2-18B3-4DA5-8B78-7FEEB1B2731D}" type="sibTrans" cxnId="{4E67E0C4-454F-4953-80F8-F05B9F29698E}">
      <dgm:prSet/>
      <dgm:spPr/>
      <dgm:t>
        <a:bodyPr/>
        <a:lstStyle/>
        <a:p>
          <a:endParaRPr lang="en-US"/>
        </a:p>
      </dgm:t>
    </dgm:pt>
    <dgm:pt modelId="{84CDEAAF-DCD4-4507-91E4-5EDCBB4BC88A}" type="pres">
      <dgm:prSet presAssocID="{8665508E-B830-414E-895A-A8F2B1A3F817}" presName="hierChild1" presStyleCnt="0">
        <dgm:presLayoutVars>
          <dgm:orgChart val="1"/>
          <dgm:chPref val="1"/>
          <dgm:dir/>
          <dgm:animOne val="branch"/>
          <dgm:animLvl val="lvl"/>
          <dgm:resizeHandles/>
        </dgm:presLayoutVars>
      </dgm:prSet>
      <dgm:spPr/>
    </dgm:pt>
    <dgm:pt modelId="{A21F3CFE-AC9E-417D-9067-D9DD0C63797B}" type="pres">
      <dgm:prSet presAssocID="{1C0D01CE-9ACA-438F-A9C6-D0C5996320C3}" presName="hierRoot1" presStyleCnt="0">
        <dgm:presLayoutVars>
          <dgm:hierBranch val="init"/>
        </dgm:presLayoutVars>
      </dgm:prSet>
      <dgm:spPr/>
    </dgm:pt>
    <dgm:pt modelId="{863897E0-9E4B-4D45-BF77-4AAD283B6A60}" type="pres">
      <dgm:prSet presAssocID="{1C0D01CE-9ACA-438F-A9C6-D0C5996320C3}" presName="rootComposite1" presStyleCnt="0"/>
      <dgm:spPr/>
    </dgm:pt>
    <dgm:pt modelId="{B0A9A80E-9B0B-4555-A3C2-02F6D85C7F5D}" type="pres">
      <dgm:prSet presAssocID="{1C0D01CE-9ACA-438F-A9C6-D0C5996320C3}" presName="rootText1" presStyleLbl="node0" presStyleIdx="0" presStyleCnt="1">
        <dgm:presLayoutVars>
          <dgm:chPref val="3"/>
        </dgm:presLayoutVars>
      </dgm:prSet>
      <dgm:spPr/>
    </dgm:pt>
    <dgm:pt modelId="{7E6677B1-E205-4044-9B94-639708608FE2}" type="pres">
      <dgm:prSet presAssocID="{1C0D01CE-9ACA-438F-A9C6-D0C5996320C3}" presName="rootConnector1" presStyleLbl="node1" presStyleIdx="0" presStyleCnt="0"/>
      <dgm:spPr/>
    </dgm:pt>
    <dgm:pt modelId="{770C293C-4DCB-40C1-BE41-E69BF8844009}" type="pres">
      <dgm:prSet presAssocID="{1C0D01CE-9ACA-438F-A9C6-D0C5996320C3}" presName="hierChild2" presStyleCnt="0"/>
      <dgm:spPr/>
    </dgm:pt>
    <dgm:pt modelId="{A73E81BA-1AD8-47AF-9108-8D1054CE11F5}" type="pres">
      <dgm:prSet presAssocID="{15E1ABB2-D0F9-4817-ABB5-CD1C1BA94634}" presName="Name37" presStyleLbl="parChTrans1D2" presStyleIdx="0" presStyleCnt="3"/>
      <dgm:spPr/>
    </dgm:pt>
    <dgm:pt modelId="{81D637DB-EB42-401E-A89C-F8E9CBD64C60}" type="pres">
      <dgm:prSet presAssocID="{CEAA3450-E292-4F98-960F-63F47F8072E9}" presName="hierRoot2" presStyleCnt="0">
        <dgm:presLayoutVars>
          <dgm:hierBranch val="init"/>
        </dgm:presLayoutVars>
      </dgm:prSet>
      <dgm:spPr/>
    </dgm:pt>
    <dgm:pt modelId="{19C5D540-34FE-44AC-85DD-97979720E96E}" type="pres">
      <dgm:prSet presAssocID="{CEAA3450-E292-4F98-960F-63F47F8072E9}" presName="rootComposite" presStyleCnt="0"/>
      <dgm:spPr/>
    </dgm:pt>
    <dgm:pt modelId="{E40DDE91-89EF-4175-9C27-31495C22853D}" type="pres">
      <dgm:prSet presAssocID="{CEAA3450-E292-4F98-960F-63F47F8072E9}" presName="rootText" presStyleLbl="node2" presStyleIdx="0" presStyleCnt="3">
        <dgm:presLayoutVars>
          <dgm:chPref val="3"/>
        </dgm:presLayoutVars>
      </dgm:prSet>
      <dgm:spPr/>
    </dgm:pt>
    <dgm:pt modelId="{3BCE6AB8-D10B-4990-AFCA-1DA9724DE447}" type="pres">
      <dgm:prSet presAssocID="{CEAA3450-E292-4F98-960F-63F47F8072E9}" presName="rootConnector" presStyleLbl="node2" presStyleIdx="0" presStyleCnt="3"/>
      <dgm:spPr/>
    </dgm:pt>
    <dgm:pt modelId="{2B1427D0-DF6D-44F8-8C54-47BE714E5177}" type="pres">
      <dgm:prSet presAssocID="{CEAA3450-E292-4F98-960F-63F47F8072E9}" presName="hierChild4" presStyleCnt="0"/>
      <dgm:spPr/>
    </dgm:pt>
    <dgm:pt modelId="{CC55967A-207A-4C14-AD22-D1E51CF54780}" type="pres">
      <dgm:prSet presAssocID="{CEAA3450-E292-4F98-960F-63F47F8072E9}" presName="hierChild5" presStyleCnt="0"/>
      <dgm:spPr/>
    </dgm:pt>
    <dgm:pt modelId="{1EF18004-34C9-48DE-98EA-80D384E78FF4}" type="pres">
      <dgm:prSet presAssocID="{E1251760-EFBF-42DD-B5D0-041FE1AAFED9}" presName="Name37" presStyleLbl="parChTrans1D2" presStyleIdx="1" presStyleCnt="3"/>
      <dgm:spPr/>
    </dgm:pt>
    <dgm:pt modelId="{08166AB2-0F31-4F7C-8D93-67FBCF996078}" type="pres">
      <dgm:prSet presAssocID="{65862A79-FDE9-435E-9C74-78CB12785062}" presName="hierRoot2" presStyleCnt="0">
        <dgm:presLayoutVars>
          <dgm:hierBranch val="init"/>
        </dgm:presLayoutVars>
      </dgm:prSet>
      <dgm:spPr/>
    </dgm:pt>
    <dgm:pt modelId="{1237985F-74A1-4E11-8155-ADDA08780773}" type="pres">
      <dgm:prSet presAssocID="{65862A79-FDE9-435E-9C74-78CB12785062}" presName="rootComposite" presStyleCnt="0"/>
      <dgm:spPr/>
    </dgm:pt>
    <dgm:pt modelId="{11C10F74-5CCD-4623-9A20-A48AC70D0D45}" type="pres">
      <dgm:prSet presAssocID="{65862A79-FDE9-435E-9C74-78CB12785062}" presName="rootText" presStyleLbl="node2" presStyleIdx="1" presStyleCnt="3">
        <dgm:presLayoutVars>
          <dgm:chPref val="3"/>
        </dgm:presLayoutVars>
      </dgm:prSet>
      <dgm:spPr/>
    </dgm:pt>
    <dgm:pt modelId="{AC3BE7AB-CDBC-4B12-BFCB-FC09B47639C3}" type="pres">
      <dgm:prSet presAssocID="{65862A79-FDE9-435E-9C74-78CB12785062}" presName="rootConnector" presStyleLbl="node2" presStyleIdx="1" presStyleCnt="3"/>
      <dgm:spPr/>
    </dgm:pt>
    <dgm:pt modelId="{D3796D41-6054-403E-A52B-0F6404330A95}" type="pres">
      <dgm:prSet presAssocID="{65862A79-FDE9-435E-9C74-78CB12785062}" presName="hierChild4" presStyleCnt="0"/>
      <dgm:spPr/>
    </dgm:pt>
    <dgm:pt modelId="{96F5BAF1-03ED-48A3-8450-98346C199694}" type="pres">
      <dgm:prSet presAssocID="{65862A79-FDE9-435E-9C74-78CB12785062}" presName="hierChild5" presStyleCnt="0"/>
      <dgm:spPr/>
    </dgm:pt>
    <dgm:pt modelId="{B15F0CB8-B570-47E1-9F45-9A1B2A3A2F92}" type="pres">
      <dgm:prSet presAssocID="{2DB50E0E-481C-4CB5-873B-925BC954E895}" presName="Name37" presStyleLbl="parChTrans1D2" presStyleIdx="2" presStyleCnt="3"/>
      <dgm:spPr/>
    </dgm:pt>
    <dgm:pt modelId="{53A8F950-D63D-407D-982D-BD8A3D189E46}" type="pres">
      <dgm:prSet presAssocID="{BF0ADDCA-E46E-43C9-9E99-4C4DFCD0CBB1}" presName="hierRoot2" presStyleCnt="0">
        <dgm:presLayoutVars>
          <dgm:hierBranch val="init"/>
        </dgm:presLayoutVars>
      </dgm:prSet>
      <dgm:spPr/>
    </dgm:pt>
    <dgm:pt modelId="{5DCA0D58-C62B-4BB1-A97D-F90897E31938}" type="pres">
      <dgm:prSet presAssocID="{BF0ADDCA-E46E-43C9-9E99-4C4DFCD0CBB1}" presName="rootComposite" presStyleCnt="0"/>
      <dgm:spPr/>
    </dgm:pt>
    <dgm:pt modelId="{16D1E0FC-F33E-47B6-A0CE-DEA4FEC22FEA}" type="pres">
      <dgm:prSet presAssocID="{BF0ADDCA-E46E-43C9-9E99-4C4DFCD0CBB1}" presName="rootText" presStyleLbl="node2" presStyleIdx="2" presStyleCnt="3">
        <dgm:presLayoutVars>
          <dgm:chPref val="3"/>
        </dgm:presLayoutVars>
      </dgm:prSet>
      <dgm:spPr/>
    </dgm:pt>
    <dgm:pt modelId="{49324370-664E-4B44-996C-9349B449A935}" type="pres">
      <dgm:prSet presAssocID="{BF0ADDCA-E46E-43C9-9E99-4C4DFCD0CBB1}" presName="rootConnector" presStyleLbl="node2" presStyleIdx="2" presStyleCnt="3"/>
      <dgm:spPr/>
    </dgm:pt>
    <dgm:pt modelId="{E585CBA9-8A93-494D-B3E1-EEC33E8FDD16}" type="pres">
      <dgm:prSet presAssocID="{BF0ADDCA-E46E-43C9-9E99-4C4DFCD0CBB1}" presName="hierChild4" presStyleCnt="0"/>
      <dgm:spPr/>
    </dgm:pt>
    <dgm:pt modelId="{4F211439-A836-44EC-ABD8-04C54E72D72A}" type="pres">
      <dgm:prSet presAssocID="{BF0ADDCA-E46E-43C9-9E99-4C4DFCD0CBB1}" presName="hierChild5" presStyleCnt="0"/>
      <dgm:spPr/>
    </dgm:pt>
    <dgm:pt modelId="{21DB9CF0-89E0-4191-8844-3B17532792C1}" type="pres">
      <dgm:prSet presAssocID="{1C0D01CE-9ACA-438F-A9C6-D0C5996320C3}" presName="hierChild3" presStyleCnt="0"/>
      <dgm:spPr/>
    </dgm:pt>
  </dgm:ptLst>
  <dgm:cxnLst>
    <dgm:cxn modelId="{BEA84704-9D7E-47C7-9EFD-39B77A5B3740}" type="presOf" srcId="{1C0D01CE-9ACA-438F-A9C6-D0C5996320C3}" destId="{7E6677B1-E205-4044-9B94-639708608FE2}" srcOrd="1" destOrd="0" presId="urn:microsoft.com/office/officeart/2005/8/layout/orgChart1"/>
    <dgm:cxn modelId="{53561905-02D8-40E9-83F0-41E3C123254F}" type="presOf" srcId="{BF0ADDCA-E46E-43C9-9E99-4C4DFCD0CBB1}" destId="{49324370-664E-4B44-996C-9349B449A935}" srcOrd="1" destOrd="0" presId="urn:microsoft.com/office/officeart/2005/8/layout/orgChart1"/>
    <dgm:cxn modelId="{D1554306-DB31-42FC-AAE0-BE6410625904}" type="presOf" srcId="{E1251760-EFBF-42DD-B5D0-041FE1AAFED9}" destId="{1EF18004-34C9-48DE-98EA-80D384E78FF4}" srcOrd="0" destOrd="0" presId="urn:microsoft.com/office/officeart/2005/8/layout/orgChart1"/>
    <dgm:cxn modelId="{A79E4D28-AA17-4BED-8F09-665506988C8D}" type="presOf" srcId="{CEAA3450-E292-4F98-960F-63F47F8072E9}" destId="{E40DDE91-89EF-4175-9C27-31495C22853D}" srcOrd="0" destOrd="0" presId="urn:microsoft.com/office/officeart/2005/8/layout/orgChart1"/>
    <dgm:cxn modelId="{493EA537-CD34-4B33-95AC-D9B3C188258F}" type="presOf" srcId="{2DB50E0E-481C-4CB5-873B-925BC954E895}" destId="{B15F0CB8-B570-47E1-9F45-9A1B2A3A2F92}" srcOrd="0" destOrd="0" presId="urn:microsoft.com/office/officeart/2005/8/layout/orgChart1"/>
    <dgm:cxn modelId="{C9CA4C3D-CCB4-464A-BAC3-7A8E4A89D07D}" srcId="{8665508E-B830-414E-895A-A8F2B1A3F817}" destId="{1C0D01CE-9ACA-438F-A9C6-D0C5996320C3}" srcOrd="0" destOrd="0" parTransId="{03908447-0A93-4495-9CE9-9B6F3C348423}" sibTransId="{D1392AE6-A6B3-4DC1-A4BF-4210DF1CEE82}"/>
    <dgm:cxn modelId="{42C9F85D-4103-44B3-AF0E-A46EC8F983EB}" srcId="{1C0D01CE-9ACA-438F-A9C6-D0C5996320C3}" destId="{CEAA3450-E292-4F98-960F-63F47F8072E9}" srcOrd="0" destOrd="0" parTransId="{15E1ABB2-D0F9-4817-ABB5-CD1C1BA94634}" sibTransId="{60C26448-B93A-4BD3-9720-F6FA85C1F4A5}"/>
    <dgm:cxn modelId="{5EC89E68-94A1-44DD-B1C0-21959F7070D5}" type="presOf" srcId="{CEAA3450-E292-4F98-960F-63F47F8072E9}" destId="{3BCE6AB8-D10B-4990-AFCA-1DA9724DE447}" srcOrd="1" destOrd="0" presId="urn:microsoft.com/office/officeart/2005/8/layout/orgChart1"/>
    <dgm:cxn modelId="{79E70B79-735D-40B6-A5FC-607F21776B62}" srcId="{1C0D01CE-9ACA-438F-A9C6-D0C5996320C3}" destId="{65862A79-FDE9-435E-9C74-78CB12785062}" srcOrd="1" destOrd="0" parTransId="{E1251760-EFBF-42DD-B5D0-041FE1AAFED9}" sibTransId="{7E966BEA-F2EA-4DF1-8CFB-6C5B0B1C85AB}"/>
    <dgm:cxn modelId="{BFD1B27A-EBF8-4593-8107-584817483921}" type="presOf" srcId="{15E1ABB2-D0F9-4817-ABB5-CD1C1BA94634}" destId="{A73E81BA-1AD8-47AF-9108-8D1054CE11F5}" srcOrd="0" destOrd="0" presId="urn:microsoft.com/office/officeart/2005/8/layout/orgChart1"/>
    <dgm:cxn modelId="{49E7DBBF-5301-416E-BBD5-1A00707EBFC5}" type="presOf" srcId="{1C0D01CE-9ACA-438F-A9C6-D0C5996320C3}" destId="{B0A9A80E-9B0B-4555-A3C2-02F6D85C7F5D}" srcOrd="0" destOrd="0" presId="urn:microsoft.com/office/officeart/2005/8/layout/orgChart1"/>
    <dgm:cxn modelId="{6EFE80C2-109C-4C65-A530-EEC53BD7B953}" type="presOf" srcId="{65862A79-FDE9-435E-9C74-78CB12785062}" destId="{AC3BE7AB-CDBC-4B12-BFCB-FC09B47639C3}" srcOrd="1" destOrd="0" presId="urn:microsoft.com/office/officeart/2005/8/layout/orgChart1"/>
    <dgm:cxn modelId="{4E67E0C4-454F-4953-80F8-F05B9F29698E}" srcId="{1C0D01CE-9ACA-438F-A9C6-D0C5996320C3}" destId="{BF0ADDCA-E46E-43C9-9E99-4C4DFCD0CBB1}" srcOrd="2" destOrd="0" parTransId="{2DB50E0E-481C-4CB5-873B-925BC954E895}" sibTransId="{465D15F2-18B3-4DA5-8B78-7FEEB1B2731D}"/>
    <dgm:cxn modelId="{AE1080CC-149C-4201-9F9E-D33045631D0E}" type="presOf" srcId="{8665508E-B830-414E-895A-A8F2B1A3F817}" destId="{84CDEAAF-DCD4-4507-91E4-5EDCBB4BC88A}" srcOrd="0" destOrd="0" presId="urn:microsoft.com/office/officeart/2005/8/layout/orgChart1"/>
    <dgm:cxn modelId="{777283F4-189F-458E-859E-BBE0389B2E80}" type="presOf" srcId="{65862A79-FDE9-435E-9C74-78CB12785062}" destId="{11C10F74-5CCD-4623-9A20-A48AC70D0D45}" srcOrd="0" destOrd="0" presId="urn:microsoft.com/office/officeart/2005/8/layout/orgChart1"/>
    <dgm:cxn modelId="{18A61FF6-B0CE-423F-82F5-7F1DAC599652}" type="presOf" srcId="{BF0ADDCA-E46E-43C9-9E99-4C4DFCD0CBB1}" destId="{16D1E0FC-F33E-47B6-A0CE-DEA4FEC22FEA}" srcOrd="0" destOrd="0" presId="urn:microsoft.com/office/officeart/2005/8/layout/orgChart1"/>
    <dgm:cxn modelId="{D9527D7C-84EE-4B08-AEEA-E64E53E36B84}" type="presParOf" srcId="{84CDEAAF-DCD4-4507-91E4-5EDCBB4BC88A}" destId="{A21F3CFE-AC9E-417D-9067-D9DD0C63797B}" srcOrd="0" destOrd="0" presId="urn:microsoft.com/office/officeart/2005/8/layout/orgChart1"/>
    <dgm:cxn modelId="{5AB644A5-94CC-409D-919F-6B05084CBE00}" type="presParOf" srcId="{A21F3CFE-AC9E-417D-9067-D9DD0C63797B}" destId="{863897E0-9E4B-4D45-BF77-4AAD283B6A60}" srcOrd="0" destOrd="0" presId="urn:microsoft.com/office/officeart/2005/8/layout/orgChart1"/>
    <dgm:cxn modelId="{624F3EB8-F8F1-48AE-9C4B-1CC127CF15C4}" type="presParOf" srcId="{863897E0-9E4B-4D45-BF77-4AAD283B6A60}" destId="{B0A9A80E-9B0B-4555-A3C2-02F6D85C7F5D}" srcOrd="0" destOrd="0" presId="urn:microsoft.com/office/officeart/2005/8/layout/orgChart1"/>
    <dgm:cxn modelId="{3E6835DE-C175-48C2-8F80-56A6ECC20508}" type="presParOf" srcId="{863897E0-9E4B-4D45-BF77-4AAD283B6A60}" destId="{7E6677B1-E205-4044-9B94-639708608FE2}" srcOrd="1" destOrd="0" presId="urn:microsoft.com/office/officeart/2005/8/layout/orgChart1"/>
    <dgm:cxn modelId="{EDD4588D-C7A5-40B9-AB20-31D71AA45B00}" type="presParOf" srcId="{A21F3CFE-AC9E-417D-9067-D9DD0C63797B}" destId="{770C293C-4DCB-40C1-BE41-E69BF8844009}" srcOrd="1" destOrd="0" presId="urn:microsoft.com/office/officeart/2005/8/layout/orgChart1"/>
    <dgm:cxn modelId="{F487F786-1436-40D2-9C3B-B72BF38750E4}" type="presParOf" srcId="{770C293C-4DCB-40C1-BE41-E69BF8844009}" destId="{A73E81BA-1AD8-47AF-9108-8D1054CE11F5}" srcOrd="0" destOrd="0" presId="urn:microsoft.com/office/officeart/2005/8/layout/orgChart1"/>
    <dgm:cxn modelId="{6917DA81-3BF7-4736-98A4-CF8D6BB7020A}" type="presParOf" srcId="{770C293C-4DCB-40C1-BE41-E69BF8844009}" destId="{81D637DB-EB42-401E-A89C-F8E9CBD64C60}" srcOrd="1" destOrd="0" presId="urn:microsoft.com/office/officeart/2005/8/layout/orgChart1"/>
    <dgm:cxn modelId="{31E79CDA-CA05-4E10-914E-848683ADD514}" type="presParOf" srcId="{81D637DB-EB42-401E-A89C-F8E9CBD64C60}" destId="{19C5D540-34FE-44AC-85DD-97979720E96E}" srcOrd="0" destOrd="0" presId="urn:microsoft.com/office/officeart/2005/8/layout/orgChart1"/>
    <dgm:cxn modelId="{5F11BA5F-3924-4FF2-9270-378021662AF1}" type="presParOf" srcId="{19C5D540-34FE-44AC-85DD-97979720E96E}" destId="{E40DDE91-89EF-4175-9C27-31495C22853D}" srcOrd="0" destOrd="0" presId="urn:microsoft.com/office/officeart/2005/8/layout/orgChart1"/>
    <dgm:cxn modelId="{DA3CF927-0FB0-4F77-8F34-76605F3C1620}" type="presParOf" srcId="{19C5D540-34FE-44AC-85DD-97979720E96E}" destId="{3BCE6AB8-D10B-4990-AFCA-1DA9724DE447}" srcOrd="1" destOrd="0" presId="urn:microsoft.com/office/officeart/2005/8/layout/orgChart1"/>
    <dgm:cxn modelId="{BDB6BB2C-8142-45B5-BFA0-9D9FDE4E72D3}" type="presParOf" srcId="{81D637DB-EB42-401E-A89C-F8E9CBD64C60}" destId="{2B1427D0-DF6D-44F8-8C54-47BE714E5177}" srcOrd="1" destOrd="0" presId="urn:microsoft.com/office/officeart/2005/8/layout/orgChart1"/>
    <dgm:cxn modelId="{DA497E6C-6D8C-44DD-B1A0-7859ADBCF515}" type="presParOf" srcId="{81D637DB-EB42-401E-A89C-F8E9CBD64C60}" destId="{CC55967A-207A-4C14-AD22-D1E51CF54780}" srcOrd="2" destOrd="0" presId="urn:microsoft.com/office/officeart/2005/8/layout/orgChart1"/>
    <dgm:cxn modelId="{8969C950-D84A-4301-BDF3-7032A956254C}" type="presParOf" srcId="{770C293C-4DCB-40C1-BE41-E69BF8844009}" destId="{1EF18004-34C9-48DE-98EA-80D384E78FF4}" srcOrd="2" destOrd="0" presId="urn:microsoft.com/office/officeart/2005/8/layout/orgChart1"/>
    <dgm:cxn modelId="{47BDADAE-019C-4506-8268-8A727CB5C0B5}" type="presParOf" srcId="{770C293C-4DCB-40C1-BE41-E69BF8844009}" destId="{08166AB2-0F31-4F7C-8D93-67FBCF996078}" srcOrd="3" destOrd="0" presId="urn:microsoft.com/office/officeart/2005/8/layout/orgChart1"/>
    <dgm:cxn modelId="{3922B6CF-31F0-4014-B84A-B77306CCC9EB}" type="presParOf" srcId="{08166AB2-0F31-4F7C-8D93-67FBCF996078}" destId="{1237985F-74A1-4E11-8155-ADDA08780773}" srcOrd="0" destOrd="0" presId="urn:microsoft.com/office/officeart/2005/8/layout/orgChart1"/>
    <dgm:cxn modelId="{3B482FC6-E0E1-4498-8199-4F7F56B1E625}" type="presParOf" srcId="{1237985F-74A1-4E11-8155-ADDA08780773}" destId="{11C10F74-5CCD-4623-9A20-A48AC70D0D45}" srcOrd="0" destOrd="0" presId="urn:microsoft.com/office/officeart/2005/8/layout/orgChart1"/>
    <dgm:cxn modelId="{36D920E7-74DC-460D-AC4D-29555D5CD3F5}" type="presParOf" srcId="{1237985F-74A1-4E11-8155-ADDA08780773}" destId="{AC3BE7AB-CDBC-4B12-BFCB-FC09B47639C3}" srcOrd="1" destOrd="0" presId="urn:microsoft.com/office/officeart/2005/8/layout/orgChart1"/>
    <dgm:cxn modelId="{3BDE04DE-0B38-422B-B72B-17088D6F05E0}" type="presParOf" srcId="{08166AB2-0F31-4F7C-8D93-67FBCF996078}" destId="{D3796D41-6054-403E-A52B-0F6404330A95}" srcOrd="1" destOrd="0" presId="urn:microsoft.com/office/officeart/2005/8/layout/orgChart1"/>
    <dgm:cxn modelId="{67B80989-1318-4DB3-9CAD-3114FE7498A0}" type="presParOf" srcId="{08166AB2-0F31-4F7C-8D93-67FBCF996078}" destId="{96F5BAF1-03ED-48A3-8450-98346C199694}" srcOrd="2" destOrd="0" presId="urn:microsoft.com/office/officeart/2005/8/layout/orgChart1"/>
    <dgm:cxn modelId="{EA8E8F92-57CD-46AA-B3D3-FFBA5813F050}" type="presParOf" srcId="{770C293C-4DCB-40C1-BE41-E69BF8844009}" destId="{B15F0CB8-B570-47E1-9F45-9A1B2A3A2F92}" srcOrd="4" destOrd="0" presId="urn:microsoft.com/office/officeart/2005/8/layout/orgChart1"/>
    <dgm:cxn modelId="{615EC479-ACA0-4AF1-8AAA-364DBC51F69D}" type="presParOf" srcId="{770C293C-4DCB-40C1-BE41-E69BF8844009}" destId="{53A8F950-D63D-407D-982D-BD8A3D189E46}" srcOrd="5" destOrd="0" presId="urn:microsoft.com/office/officeart/2005/8/layout/orgChart1"/>
    <dgm:cxn modelId="{80E6E232-9101-4066-850E-A108E020F05E}" type="presParOf" srcId="{53A8F950-D63D-407D-982D-BD8A3D189E46}" destId="{5DCA0D58-C62B-4BB1-A97D-F90897E31938}" srcOrd="0" destOrd="0" presId="urn:microsoft.com/office/officeart/2005/8/layout/orgChart1"/>
    <dgm:cxn modelId="{8CB51C67-8DC1-473F-9692-84C92B7827FD}" type="presParOf" srcId="{5DCA0D58-C62B-4BB1-A97D-F90897E31938}" destId="{16D1E0FC-F33E-47B6-A0CE-DEA4FEC22FEA}" srcOrd="0" destOrd="0" presId="urn:microsoft.com/office/officeart/2005/8/layout/orgChart1"/>
    <dgm:cxn modelId="{5B600F47-DD94-495C-A23A-F02A1885E60D}" type="presParOf" srcId="{5DCA0D58-C62B-4BB1-A97D-F90897E31938}" destId="{49324370-664E-4B44-996C-9349B449A935}" srcOrd="1" destOrd="0" presId="urn:microsoft.com/office/officeart/2005/8/layout/orgChart1"/>
    <dgm:cxn modelId="{4DA781AA-D91A-494F-A049-1C8F9FCD655F}" type="presParOf" srcId="{53A8F950-D63D-407D-982D-BD8A3D189E46}" destId="{E585CBA9-8A93-494D-B3E1-EEC33E8FDD16}" srcOrd="1" destOrd="0" presId="urn:microsoft.com/office/officeart/2005/8/layout/orgChart1"/>
    <dgm:cxn modelId="{28BE65BD-B2F6-48DF-AE9E-379E31B2241D}" type="presParOf" srcId="{53A8F950-D63D-407D-982D-BD8A3D189E46}" destId="{4F211439-A836-44EC-ABD8-04C54E72D72A}" srcOrd="2" destOrd="0" presId="urn:microsoft.com/office/officeart/2005/8/layout/orgChart1"/>
    <dgm:cxn modelId="{AC0AB8FB-BB00-4DA7-A4E0-417430AC15D1}" type="presParOf" srcId="{A21F3CFE-AC9E-417D-9067-D9DD0C63797B}" destId="{21DB9CF0-89E0-4191-8844-3B17532792C1}"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9308FB6-0775-45F8-8414-234730514045}"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BF76C7D2-A5D6-4415-86CB-6997E36E43C3}">
      <dgm:prSet phldrT="[Text]" phldr="0"/>
      <dgm:spPr/>
      <dgm:t>
        <a:bodyPr/>
        <a:lstStyle/>
        <a:p>
          <a:r>
            <a:rPr lang="en-US" dirty="0"/>
            <a:t>Data Collection</a:t>
          </a:r>
        </a:p>
      </dgm:t>
    </dgm:pt>
    <dgm:pt modelId="{E39DF584-4B10-4FA0-9283-67D37F7D5EF3}" type="parTrans" cxnId="{4FB17E3F-2CB3-4AC0-8C1E-1EBAC0F1EE55}">
      <dgm:prSet/>
      <dgm:spPr/>
      <dgm:t>
        <a:bodyPr/>
        <a:lstStyle/>
        <a:p>
          <a:endParaRPr lang="en-US"/>
        </a:p>
      </dgm:t>
    </dgm:pt>
    <dgm:pt modelId="{2AC6998F-E385-4543-906B-374B944C409C}" type="sibTrans" cxnId="{4FB17E3F-2CB3-4AC0-8C1E-1EBAC0F1EE55}">
      <dgm:prSet/>
      <dgm:spPr/>
      <dgm:t>
        <a:bodyPr/>
        <a:lstStyle/>
        <a:p>
          <a:endParaRPr lang="en-US"/>
        </a:p>
      </dgm:t>
    </dgm:pt>
    <dgm:pt modelId="{05313624-1A89-49FE-ACCE-87423CA30A6D}">
      <dgm:prSet phldrT="[Text]"/>
      <dgm:spPr/>
      <dgm:t>
        <a:bodyPr/>
        <a:lstStyle/>
        <a:p>
          <a:pPr>
            <a:buNone/>
          </a:pPr>
          <a:r>
            <a:rPr lang="en-US" dirty="0"/>
            <a:t>Feature Engineering</a:t>
          </a:r>
        </a:p>
      </dgm:t>
    </dgm:pt>
    <dgm:pt modelId="{A064E782-2738-48AE-B8E5-A4A88BE62AA8}" type="parTrans" cxnId="{7C1316F1-6C06-4314-B4A2-19A6F9514DB2}">
      <dgm:prSet/>
      <dgm:spPr/>
      <dgm:t>
        <a:bodyPr/>
        <a:lstStyle/>
        <a:p>
          <a:endParaRPr lang="en-US"/>
        </a:p>
      </dgm:t>
    </dgm:pt>
    <dgm:pt modelId="{301A78E9-56BA-4994-8470-B94BFC4E9C1A}" type="sibTrans" cxnId="{7C1316F1-6C06-4314-B4A2-19A6F9514DB2}">
      <dgm:prSet/>
      <dgm:spPr/>
      <dgm:t>
        <a:bodyPr/>
        <a:lstStyle/>
        <a:p>
          <a:endParaRPr lang="en-US"/>
        </a:p>
      </dgm:t>
    </dgm:pt>
    <dgm:pt modelId="{EE4D60CA-E284-4A49-9A60-950CF39D4B2B}">
      <dgm:prSet phldrT="[Text]"/>
      <dgm:spPr/>
      <dgm:t>
        <a:bodyPr/>
        <a:lstStyle/>
        <a:p>
          <a:pPr>
            <a:buNone/>
          </a:pPr>
          <a:r>
            <a:rPr lang="en-US" dirty="0"/>
            <a:t>Model Selection</a:t>
          </a:r>
        </a:p>
      </dgm:t>
    </dgm:pt>
    <dgm:pt modelId="{1725D7F0-CC19-48F8-8A0F-EBE5CE725E97}" type="parTrans" cxnId="{07B717C1-64BD-4D37-A4B8-0F4380F9AF3A}">
      <dgm:prSet/>
      <dgm:spPr/>
      <dgm:t>
        <a:bodyPr/>
        <a:lstStyle/>
        <a:p>
          <a:endParaRPr lang="en-US"/>
        </a:p>
      </dgm:t>
    </dgm:pt>
    <dgm:pt modelId="{2D27B055-9318-4F5A-BDDF-1DCD81A22197}" type="sibTrans" cxnId="{07B717C1-64BD-4D37-A4B8-0F4380F9AF3A}">
      <dgm:prSet/>
      <dgm:spPr/>
      <dgm:t>
        <a:bodyPr/>
        <a:lstStyle/>
        <a:p>
          <a:endParaRPr lang="en-US"/>
        </a:p>
      </dgm:t>
    </dgm:pt>
    <dgm:pt modelId="{C54E094B-EBA5-4C2D-911E-8C236DD25DA5}">
      <dgm:prSet phldrT="[Text]"/>
      <dgm:spPr/>
      <dgm:t>
        <a:bodyPr/>
        <a:lstStyle/>
        <a:p>
          <a:pPr>
            <a:buNone/>
          </a:pPr>
          <a:r>
            <a:rPr lang="en-US" dirty="0"/>
            <a:t>Evaluation Metrics</a:t>
          </a:r>
        </a:p>
      </dgm:t>
    </dgm:pt>
    <dgm:pt modelId="{3D154EA9-AB2F-4031-93FE-608921745691}" type="parTrans" cxnId="{B4F81537-545B-4592-A9BB-EA547F5DA1BF}">
      <dgm:prSet/>
      <dgm:spPr/>
      <dgm:t>
        <a:bodyPr/>
        <a:lstStyle/>
        <a:p>
          <a:endParaRPr lang="en-US"/>
        </a:p>
      </dgm:t>
    </dgm:pt>
    <dgm:pt modelId="{6623EFD7-552C-4BC8-9563-6B91612D6EDE}" type="sibTrans" cxnId="{B4F81537-545B-4592-A9BB-EA547F5DA1BF}">
      <dgm:prSet/>
      <dgm:spPr/>
      <dgm:t>
        <a:bodyPr/>
        <a:lstStyle/>
        <a:p>
          <a:endParaRPr lang="en-US"/>
        </a:p>
      </dgm:t>
    </dgm:pt>
    <dgm:pt modelId="{DB048AC0-1A77-4E5F-81A7-5BD97C157C40}" type="pres">
      <dgm:prSet presAssocID="{39308FB6-0775-45F8-8414-234730514045}" presName="Name0" presStyleCnt="0">
        <dgm:presLayoutVars>
          <dgm:dir/>
          <dgm:resizeHandles val="exact"/>
        </dgm:presLayoutVars>
      </dgm:prSet>
      <dgm:spPr/>
    </dgm:pt>
    <dgm:pt modelId="{59273D29-D446-4168-9ECF-F8F6196CC879}" type="pres">
      <dgm:prSet presAssocID="{39308FB6-0775-45F8-8414-234730514045}" presName="cycle" presStyleCnt="0"/>
      <dgm:spPr/>
    </dgm:pt>
    <dgm:pt modelId="{FBF625A0-9F33-4C75-8412-F28B4617D81B}" type="pres">
      <dgm:prSet presAssocID="{BF76C7D2-A5D6-4415-86CB-6997E36E43C3}" presName="nodeFirstNode" presStyleLbl="node1" presStyleIdx="0" presStyleCnt="4" custScaleX="82141" custScaleY="44597" custRadScaleRad="110926" custRadScaleInc="2438">
        <dgm:presLayoutVars>
          <dgm:bulletEnabled val="1"/>
        </dgm:presLayoutVars>
      </dgm:prSet>
      <dgm:spPr/>
    </dgm:pt>
    <dgm:pt modelId="{0C8702B5-DFED-448E-A469-00543D3E9EBB}" type="pres">
      <dgm:prSet presAssocID="{2AC6998F-E385-4543-906B-374B944C409C}" presName="sibTransFirstNode" presStyleLbl="bgShp" presStyleIdx="0" presStyleCnt="1"/>
      <dgm:spPr/>
    </dgm:pt>
    <dgm:pt modelId="{AA21218E-712F-498E-9AAA-7F352EB7EF08}" type="pres">
      <dgm:prSet presAssocID="{05313624-1A89-49FE-ACCE-87423CA30A6D}" presName="nodeFollowingNodes" presStyleLbl="node1" presStyleIdx="1" presStyleCnt="4" custScaleX="66011" custScaleY="48881" custRadScaleRad="112913">
        <dgm:presLayoutVars>
          <dgm:bulletEnabled val="1"/>
        </dgm:presLayoutVars>
      </dgm:prSet>
      <dgm:spPr/>
    </dgm:pt>
    <dgm:pt modelId="{4FD0006F-1E19-42CE-8658-EBA843D84CC9}" type="pres">
      <dgm:prSet presAssocID="{EE4D60CA-E284-4A49-9A60-950CF39D4B2B}" presName="nodeFollowingNodes" presStyleLbl="node1" presStyleIdx="2" presStyleCnt="4" custScaleX="82898" custScaleY="45626" custRadScaleRad="106125" custRadScaleInc="-1020">
        <dgm:presLayoutVars>
          <dgm:bulletEnabled val="1"/>
        </dgm:presLayoutVars>
      </dgm:prSet>
      <dgm:spPr/>
    </dgm:pt>
    <dgm:pt modelId="{06EE8F10-5617-47D3-BC7E-B435441EB1D6}" type="pres">
      <dgm:prSet presAssocID="{C54E094B-EBA5-4C2D-911E-8C236DD25DA5}" presName="nodeFollowingNodes" presStyleLbl="node1" presStyleIdx="3" presStyleCnt="4" custScaleX="59927" custScaleY="60996" custRadScaleRad="124466">
        <dgm:presLayoutVars>
          <dgm:bulletEnabled val="1"/>
        </dgm:presLayoutVars>
      </dgm:prSet>
      <dgm:spPr/>
    </dgm:pt>
  </dgm:ptLst>
  <dgm:cxnLst>
    <dgm:cxn modelId="{E0BF2C10-A7BA-43BA-A22D-B8F1A193AA0D}" type="presOf" srcId="{C54E094B-EBA5-4C2D-911E-8C236DD25DA5}" destId="{06EE8F10-5617-47D3-BC7E-B435441EB1D6}" srcOrd="0" destOrd="0" presId="urn:microsoft.com/office/officeart/2005/8/layout/cycle3"/>
    <dgm:cxn modelId="{9EFCBB11-50CE-4EFD-B084-65907F5D7978}" type="presOf" srcId="{05313624-1A89-49FE-ACCE-87423CA30A6D}" destId="{AA21218E-712F-498E-9AAA-7F352EB7EF08}" srcOrd="0" destOrd="0" presId="urn:microsoft.com/office/officeart/2005/8/layout/cycle3"/>
    <dgm:cxn modelId="{8835FA1B-2FF1-4159-B70A-976D9118C349}" type="presOf" srcId="{BF76C7D2-A5D6-4415-86CB-6997E36E43C3}" destId="{FBF625A0-9F33-4C75-8412-F28B4617D81B}" srcOrd="0" destOrd="0" presId="urn:microsoft.com/office/officeart/2005/8/layout/cycle3"/>
    <dgm:cxn modelId="{B4F81537-545B-4592-A9BB-EA547F5DA1BF}" srcId="{39308FB6-0775-45F8-8414-234730514045}" destId="{C54E094B-EBA5-4C2D-911E-8C236DD25DA5}" srcOrd="3" destOrd="0" parTransId="{3D154EA9-AB2F-4031-93FE-608921745691}" sibTransId="{6623EFD7-552C-4BC8-9563-6B91612D6EDE}"/>
    <dgm:cxn modelId="{4FB17E3F-2CB3-4AC0-8C1E-1EBAC0F1EE55}" srcId="{39308FB6-0775-45F8-8414-234730514045}" destId="{BF76C7D2-A5D6-4415-86CB-6997E36E43C3}" srcOrd="0" destOrd="0" parTransId="{E39DF584-4B10-4FA0-9283-67D37F7D5EF3}" sibTransId="{2AC6998F-E385-4543-906B-374B944C409C}"/>
    <dgm:cxn modelId="{AF5F0D51-0095-4A8D-920C-7D00B52DFC2C}" type="presOf" srcId="{EE4D60CA-E284-4A49-9A60-950CF39D4B2B}" destId="{4FD0006F-1E19-42CE-8658-EBA843D84CC9}" srcOrd="0" destOrd="0" presId="urn:microsoft.com/office/officeart/2005/8/layout/cycle3"/>
    <dgm:cxn modelId="{1A4F3A86-72DF-44B3-93E1-0D73AD020F47}" type="presOf" srcId="{2AC6998F-E385-4543-906B-374B944C409C}" destId="{0C8702B5-DFED-448E-A469-00543D3E9EBB}" srcOrd="0" destOrd="0" presId="urn:microsoft.com/office/officeart/2005/8/layout/cycle3"/>
    <dgm:cxn modelId="{07B717C1-64BD-4D37-A4B8-0F4380F9AF3A}" srcId="{39308FB6-0775-45F8-8414-234730514045}" destId="{EE4D60CA-E284-4A49-9A60-950CF39D4B2B}" srcOrd="2" destOrd="0" parTransId="{1725D7F0-CC19-48F8-8A0F-EBE5CE725E97}" sibTransId="{2D27B055-9318-4F5A-BDDF-1DCD81A22197}"/>
    <dgm:cxn modelId="{5E0E59DC-48DB-4CC7-B4E2-6DC41EC2D574}" type="presOf" srcId="{39308FB6-0775-45F8-8414-234730514045}" destId="{DB048AC0-1A77-4E5F-81A7-5BD97C157C40}" srcOrd="0" destOrd="0" presId="urn:microsoft.com/office/officeart/2005/8/layout/cycle3"/>
    <dgm:cxn modelId="{7C1316F1-6C06-4314-B4A2-19A6F9514DB2}" srcId="{39308FB6-0775-45F8-8414-234730514045}" destId="{05313624-1A89-49FE-ACCE-87423CA30A6D}" srcOrd="1" destOrd="0" parTransId="{A064E782-2738-48AE-B8E5-A4A88BE62AA8}" sibTransId="{301A78E9-56BA-4994-8470-B94BFC4E9C1A}"/>
    <dgm:cxn modelId="{B03BEC65-4D60-4FC3-B422-4BAB6D8239A2}" type="presParOf" srcId="{DB048AC0-1A77-4E5F-81A7-5BD97C157C40}" destId="{59273D29-D446-4168-9ECF-F8F6196CC879}" srcOrd="0" destOrd="0" presId="urn:microsoft.com/office/officeart/2005/8/layout/cycle3"/>
    <dgm:cxn modelId="{4D826542-18C7-4A61-848D-CC45F2CAA975}" type="presParOf" srcId="{59273D29-D446-4168-9ECF-F8F6196CC879}" destId="{FBF625A0-9F33-4C75-8412-F28B4617D81B}" srcOrd="0" destOrd="0" presId="urn:microsoft.com/office/officeart/2005/8/layout/cycle3"/>
    <dgm:cxn modelId="{C48EAC3B-DCA1-479D-BEB6-496B2BD41C64}" type="presParOf" srcId="{59273D29-D446-4168-9ECF-F8F6196CC879}" destId="{0C8702B5-DFED-448E-A469-00543D3E9EBB}" srcOrd="1" destOrd="0" presId="urn:microsoft.com/office/officeart/2005/8/layout/cycle3"/>
    <dgm:cxn modelId="{CA19BE5C-D868-4A8F-80EE-4D2893A2F0CE}" type="presParOf" srcId="{59273D29-D446-4168-9ECF-F8F6196CC879}" destId="{AA21218E-712F-498E-9AAA-7F352EB7EF08}" srcOrd="2" destOrd="0" presId="urn:microsoft.com/office/officeart/2005/8/layout/cycle3"/>
    <dgm:cxn modelId="{C8F2A6CC-37E8-459F-8EB1-DE6E8AB0493E}" type="presParOf" srcId="{59273D29-D446-4168-9ECF-F8F6196CC879}" destId="{4FD0006F-1E19-42CE-8658-EBA843D84CC9}" srcOrd="3" destOrd="0" presId="urn:microsoft.com/office/officeart/2005/8/layout/cycle3"/>
    <dgm:cxn modelId="{9D66BD87-4A48-4271-B724-3282A6BBE644}" type="presParOf" srcId="{59273D29-D446-4168-9ECF-F8F6196CC879}" destId="{06EE8F10-5617-47D3-BC7E-B435441EB1D6}" srcOrd="4"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FE5E5-999E-400A-AAF1-1B652876359D}">
      <dsp:nvSpPr>
        <dsp:cNvPr id="0" name=""/>
        <dsp:cNvSpPr/>
      </dsp:nvSpPr>
      <dsp:spPr>
        <a:xfrm rot="16200000">
          <a:off x="-498131" y="498767"/>
          <a:ext cx="2651760" cy="1654224"/>
        </a:xfrm>
        <a:prstGeom prst="flowChartManualOperation">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0" rIns="63500" bIns="0" numCol="1" spcCol="1270" anchor="t" anchorCtr="0">
          <a:noAutofit/>
        </a:bodyPr>
        <a:lstStyle/>
        <a:p>
          <a:pPr marL="0" lvl="0" indent="0" algn="l" defTabSz="444500">
            <a:lnSpc>
              <a:spcPct val="90000"/>
            </a:lnSpc>
            <a:spcBef>
              <a:spcPct val="0"/>
            </a:spcBef>
            <a:spcAft>
              <a:spcPct val="35000"/>
            </a:spcAft>
            <a:buNone/>
          </a:pPr>
          <a:r>
            <a:rPr lang="en-US" sz="1000" b="1" kern="1200" dirty="0"/>
            <a:t>Who gets affected?</a:t>
          </a:r>
          <a:r>
            <a:rPr lang="en-US" sz="1000" kern="1200" dirty="0"/>
            <a:t> </a:t>
          </a:r>
        </a:p>
        <a:p>
          <a:pPr marL="0" lvl="0" indent="0" algn="l" defTabSz="444500">
            <a:lnSpc>
              <a:spcPct val="90000"/>
            </a:lnSpc>
            <a:spcBef>
              <a:spcPct val="0"/>
            </a:spcBef>
            <a:spcAft>
              <a:spcPct val="35000"/>
            </a:spcAft>
            <a:buNone/>
          </a:pPr>
          <a:endParaRPr lang="en-US" sz="1000" kern="1200" dirty="0"/>
        </a:p>
        <a:p>
          <a:pPr marL="57150" lvl="1" indent="-57150" algn="l" defTabSz="444500">
            <a:lnSpc>
              <a:spcPct val="90000"/>
            </a:lnSpc>
            <a:spcBef>
              <a:spcPct val="0"/>
            </a:spcBef>
            <a:spcAft>
              <a:spcPct val="15000"/>
            </a:spcAft>
            <a:buNone/>
          </a:pPr>
          <a:r>
            <a:rPr lang="en-US" sz="1000" kern="1200" dirty="0"/>
            <a:t>Organizations,</a:t>
          </a:r>
        </a:p>
        <a:p>
          <a:pPr marL="57150" lvl="1" indent="-57150" algn="l" defTabSz="444500">
            <a:lnSpc>
              <a:spcPct val="90000"/>
            </a:lnSpc>
            <a:spcBef>
              <a:spcPct val="0"/>
            </a:spcBef>
            <a:spcAft>
              <a:spcPct val="15000"/>
            </a:spcAft>
            <a:buNone/>
          </a:pPr>
          <a:r>
            <a:rPr lang="en-US" sz="1000" kern="1200" dirty="0"/>
            <a:t>cybersecurity teams, cloud service providers, and individual users who are the victims of ransomware attacks. </a:t>
          </a:r>
        </a:p>
      </dsp:txBody>
      <dsp:txXfrm rot="5400000">
        <a:off x="637" y="530351"/>
        <a:ext cx="1654224" cy="1591056"/>
      </dsp:txXfrm>
    </dsp:sp>
    <dsp:sp modelId="{ED636A01-C304-4CCD-A218-21AF43C50D11}">
      <dsp:nvSpPr>
        <dsp:cNvPr id="0" name=""/>
        <dsp:cNvSpPr/>
      </dsp:nvSpPr>
      <dsp:spPr>
        <a:xfrm rot="16200000">
          <a:off x="1280160" y="498767"/>
          <a:ext cx="2651760" cy="1654224"/>
        </a:xfrm>
        <a:prstGeom prst="flowChartManualOperation">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0" rIns="65934" bIns="0" numCol="1" spcCol="1270" anchor="t" anchorCtr="0">
          <a:noAutofit/>
        </a:bodyPr>
        <a:lstStyle/>
        <a:p>
          <a:pPr marL="0" lvl="0" indent="0" algn="l" defTabSz="444500">
            <a:lnSpc>
              <a:spcPct val="90000"/>
            </a:lnSpc>
            <a:spcBef>
              <a:spcPct val="0"/>
            </a:spcBef>
            <a:spcAft>
              <a:spcPct val="35000"/>
            </a:spcAft>
            <a:buNone/>
          </a:pPr>
          <a:r>
            <a:rPr lang="en-US" sz="1000" b="1" kern="1200" dirty="0"/>
            <a:t>What is wrong?</a:t>
          </a:r>
          <a:r>
            <a:rPr lang="en-US" sz="1000" kern="1200" dirty="0"/>
            <a:t> </a:t>
          </a:r>
        </a:p>
        <a:p>
          <a:pPr marL="57150" lvl="1" indent="-57150" algn="l" defTabSz="355600">
            <a:lnSpc>
              <a:spcPct val="90000"/>
            </a:lnSpc>
            <a:spcBef>
              <a:spcPct val="0"/>
            </a:spcBef>
            <a:spcAft>
              <a:spcPct val="15000"/>
            </a:spcAft>
            <a:buNone/>
          </a:pPr>
          <a:r>
            <a:rPr lang="en-US" sz="800" kern="1200" dirty="0"/>
            <a:t>AI/ML detection systems currently in use are characterized by a high rate of false positives, lack of resistance to adversarial evasion, and are very often unable to detect zero-day or polymorphic ransomware[2][4]. </a:t>
          </a:r>
        </a:p>
      </dsp:txBody>
      <dsp:txXfrm rot="5400000">
        <a:off x="1778928" y="530351"/>
        <a:ext cx="1654224" cy="1591056"/>
      </dsp:txXfrm>
    </dsp:sp>
    <dsp:sp modelId="{5916C486-B0FD-452B-A76B-6CB472ACB327}">
      <dsp:nvSpPr>
        <dsp:cNvPr id="0" name=""/>
        <dsp:cNvSpPr/>
      </dsp:nvSpPr>
      <dsp:spPr>
        <a:xfrm rot="16200000">
          <a:off x="3058451" y="498767"/>
          <a:ext cx="2651760" cy="1654224"/>
        </a:xfrm>
        <a:prstGeom prst="flowChartManualOperation">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0" rIns="65934" bIns="0" numCol="1" spcCol="1270" anchor="t" anchorCtr="0">
          <a:noAutofit/>
        </a:bodyPr>
        <a:lstStyle/>
        <a:p>
          <a:pPr marL="0" lvl="0" indent="0" algn="l" defTabSz="444500">
            <a:lnSpc>
              <a:spcPct val="90000"/>
            </a:lnSpc>
            <a:spcBef>
              <a:spcPct val="0"/>
            </a:spcBef>
            <a:spcAft>
              <a:spcPct val="35000"/>
            </a:spcAft>
            <a:buNone/>
          </a:pPr>
          <a:r>
            <a:rPr lang="en-US" sz="1000" b="1" kern="1200" dirty="0"/>
            <a:t>When does the problem arise?</a:t>
          </a:r>
          <a:r>
            <a:rPr lang="en-US" sz="1000" kern="1200" dirty="0"/>
            <a:t> </a:t>
          </a:r>
        </a:p>
        <a:p>
          <a:pPr marL="57150" lvl="1" indent="-57150" algn="l" defTabSz="355600">
            <a:lnSpc>
              <a:spcPct val="90000"/>
            </a:lnSpc>
            <a:spcBef>
              <a:spcPct val="0"/>
            </a:spcBef>
            <a:spcAft>
              <a:spcPct val="15000"/>
            </a:spcAft>
            <a:buNone/>
          </a:pPr>
          <a:r>
            <a:rPr lang="en-US" sz="800" kern="1200" dirty="0"/>
            <a:t>The problem arises during the early stages of the ransomware attack—when it is most critical to be able to detect quickly and accurately in order to prevent data encryption and disruption of operations. </a:t>
          </a:r>
        </a:p>
      </dsp:txBody>
      <dsp:txXfrm rot="5400000">
        <a:off x="3557219" y="530351"/>
        <a:ext cx="1654224" cy="15910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0FE5E5-999E-400A-AAF1-1B652876359D}">
      <dsp:nvSpPr>
        <dsp:cNvPr id="0" name=""/>
        <dsp:cNvSpPr/>
      </dsp:nvSpPr>
      <dsp:spPr>
        <a:xfrm rot="16200000">
          <a:off x="-498131" y="498767"/>
          <a:ext cx="2651760" cy="1654224"/>
        </a:xfrm>
        <a:prstGeom prst="flowChartManualOperation">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0" rIns="63500" bIns="0" numCol="1" spcCol="1270" anchor="t" anchorCtr="0">
          <a:noAutofit/>
        </a:bodyPr>
        <a:lstStyle/>
        <a:p>
          <a:pPr marL="0" lvl="0" indent="0" algn="l" defTabSz="444500">
            <a:lnSpc>
              <a:spcPct val="90000"/>
            </a:lnSpc>
            <a:spcBef>
              <a:spcPct val="0"/>
            </a:spcBef>
            <a:spcAft>
              <a:spcPct val="35000"/>
            </a:spcAft>
            <a:buNone/>
          </a:pPr>
          <a:r>
            <a:rPr lang="en-US" sz="1000" b="1" kern="1200" dirty="0"/>
            <a:t>Where does the problem occur?</a:t>
          </a:r>
          <a:r>
            <a:rPr lang="en-US" sz="1000" kern="1200" dirty="0"/>
            <a:t> </a:t>
          </a:r>
        </a:p>
        <a:p>
          <a:pPr marL="57150" lvl="1" indent="-57150" algn="l" defTabSz="355600">
            <a:lnSpc>
              <a:spcPct val="90000"/>
            </a:lnSpc>
            <a:spcBef>
              <a:spcPct val="0"/>
            </a:spcBef>
            <a:spcAft>
              <a:spcPct val="15000"/>
            </a:spcAft>
            <a:buNone/>
          </a:pPr>
          <a:r>
            <a:rPr lang="en-US" sz="800" kern="1200" dirty="0"/>
            <a:t>On enterprise networks, endpoint devices, cloud infrastructures, and IoT environments where ransomware can spread this is where the problem occurs[3]. </a:t>
          </a:r>
        </a:p>
      </dsp:txBody>
      <dsp:txXfrm rot="5400000">
        <a:off x="637" y="530351"/>
        <a:ext cx="1654224" cy="1591056"/>
      </dsp:txXfrm>
    </dsp:sp>
    <dsp:sp modelId="{ED636A01-C304-4CCD-A218-21AF43C50D11}">
      <dsp:nvSpPr>
        <dsp:cNvPr id="0" name=""/>
        <dsp:cNvSpPr/>
      </dsp:nvSpPr>
      <dsp:spPr>
        <a:xfrm rot="16200000">
          <a:off x="1280160" y="498767"/>
          <a:ext cx="2651760" cy="1654224"/>
        </a:xfrm>
        <a:prstGeom prst="flowChartManualOperation">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55295" bIns="0" numCol="1" spcCol="1270" anchor="t" anchorCtr="0">
          <a:noAutofit/>
        </a:bodyPr>
        <a:lstStyle/>
        <a:p>
          <a:pPr marL="0" lvl="0" indent="0" algn="l" defTabSz="400050">
            <a:lnSpc>
              <a:spcPct val="90000"/>
            </a:lnSpc>
            <a:spcBef>
              <a:spcPct val="0"/>
            </a:spcBef>
            <a:spcAft>
              <a:spcPct val="35000"/>
            </a:spcAft>
            <a:buNone/>
          </a:pPr>
          <a:r>
            <a:rPr lang="en-US" sz="900" b="1" kern="1200" dirty="0"/>
            <a:t>Why is it significant?</a:t>
          </a:r>
          <a:r>
            <a:rPr lang="en-US" sz="900" kern="1200" dirty="0"/>
            <a:t> </a:t>
          </a:r>
        </a:p>
        <a:p>
          <a:pPr marL="57150" lvl="1" indent="-57150" algn="l" defTabSz="311150">
            <a:lnSpc>
              <a:spcPct val="90000"/>
            </a:lnSpc>
            <a:spcBef>
              <a:spcPct val="0"/>
            </a:spcBef>
            <a:spcAft>
              <a:spcPct val="15000"/>
            </a:spcAft>
            <a:buNone/>
          </a:pPr>
          <a:r>
            <a:rPr lang="en-US" sz="700" kern="1200" dirty="0"/>
            <a:t>Ransomware leads to huge financial losses, data leakage, service disruption, and prolonged recovery; thus, enhancing detection precision can be a great help in reducing the extent of the damage[1]. </a:t>
          </a:r>
        </a:p>
      </dsp:txBody>
      <dsp:txXfrm rot="5400000">
        <a:off x="1778928" y="530351"/>
        <a:ext cx="1654224" cy="1591056"/>
      </dsp:txXfrm>
    </dsp:sp>
    <dsp:sp modelId="{5916C486-B0FD-452B-A76B-6CB472ACB327}">
      <dsp:nvSpPr>
        <dsp:cNvPr id="0" name=""/>
        <dsp:cNvSpPr/>
      </dsp:nvSpPr>
      <dsp:spPr>
        <a:xfrm rot="16200000">
          <a:off x="3059087" y="498767"/>
          <a:ext cx="2651760" cy="1654224"/>
        </a:xfrm>
        <a:prstGeom prst="flowChartManualOperation">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0" rIns="55295" bIns="0" numCol="1" spcCol="1270" anchor="t" anchorCtr="0">
          <a:noAutofit/>
        </a:bodyPr>
        <a:lstStyle/>
        <a:p>
          <a:pPr marL="0" lvl="0" indent="0" algn="l" defTabSz="400050">
            <a:lnSpc>
              <a:spcPct val="90000"/>
            </a:lnSpc>
            <a:spcBef>
              <a:spcPct val="0"/>
            </a:spcBef>
            <a:spcAft>
              <a:spcPct val="35000"/>
            </a:spcAft>
            <a:buNone/>
          </a:pPr>
          <a:r>
            <a:rPr lang="en-US" sz="900" b="1" kern="1200" dirty="0"/>
            <a:t>What is the persistence of the issue?</a:t>
          </a:r>
          <a:r>
            <a:rPr lang="en-US" sz="900" kern="1200" dirty="0"/>
            <a:t> </a:t>
          </a:r>
        </a:p>
        <a:p>
          <a:pPr marL="57150" lvl="1" indent="-57150" algn="l" defTabSz="311150">
            <a:lnSpc>
              <a:spcPct val="90000"/>
            </a:lnSpc>
            <a:spcBef>
              <a:spcPct val="0"/>
            </a:spcBef>
            <a:spcAft>
              <a:spcPct val="15000"/>
            </a:spcAft>
            <a:buNone/>
          </a:pPr>
          <a:r>
            <a:rPr lang="en-US" sz="700" kern="1200" dirty="0"/>
            <a:t>ML models rely on training data; hence attackers constantly develop new tricks to get past the detectors, whereas the defenders are always hard-pressed to keep their data not only updated and diverse but also to create models that are less susceptible to adversarial manipulation[4]. </a:t>
          </a:r>
        </a:p>
      </dsp:txBody>
      <dsp:txXfrm rot="5400000">
        <a:off x="3557855" y="530351"/>
        <a:ext cx="1654224" cy="15910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08AC4B-4CEC-41E5-AE19-47A4E2720563}">
      <dsp:nvSpPr>
        <dsp:cNvPr id="0" name=""/>
        <dsp:cNvSpPr/>
      </dsp:nvSpPr>
      <dsp:spPr>
        <a:xfrm>
          <a:off x="1287535" y="499341"/>
          <a:ext cx="2077011" cy="3249320"/>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1120" rIns="71120" bIns="71120" numCol="1" spcCol="1270" anchor="ctr" anchorCtr="0">
          <a:noAutofit/>
        </a:bodyPr>
        <a:lstStyle/>
        <a:p>
          <a:pPr marL="0" lvl="0" indent="0" algn="l" defTabSz="444500">
            <a:lnSpc>
              <a:spcPct val="90000"/>
            </a:lnSpc>
            <a:spcBef>
              <a:spcPct val="0"/>
            </a:spcBef>
            <a:spcAft>
              <a:spcPct val="35000"/>
            </a:spcAft>
            <a:buNone/>
          </a:pPr>
          <a:r>
            <a:rPr lang="en-US" sz="1000" u="none" kern="1200" dirty="0">
              <a:uFillTx/>
            </a:rPr>
            <a:t>To investigate behavioral, statistical, and system-level features associated with early ransomware activity in network and endpoint environments. </a:t>
          </a:r>
          <a:endParaRPr lang="en-US" sz="1000" kern="1200" dirty="0"/>
        </a:p>
      </dsp:txBody>
      <dsp:txXfrm>
        <a:off x="1619857" y="499341"/>
        <a:ext cx="1744689" cy="3249320"/>
      </dsp:txXfrm>
    </dsp:sp>
    <dsp:sp modelId="{FC7ED273-8CFD-43C2-9C05-44FADF3E0637}">
      <dsp:nvSpPr>
        <dsp:cNvPr id="0" name=""/>
        <dsp:cNvSpPr/>
      </dsp:nvSpPr>
      <dsp:spPr>
        <a:xfrm>
          <a:off x="494664" y="231"/>
          <a:ext cx="1247775" cy="1247775"/>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Objective</a:t>
          </a:r>
        </a:p>
        <a:p>
          <a:pPr marL="0" lvl="0" indent="0" algn="ctr" defTabSz="711200">
            <a:lnSpc>
              <a:spcPct val="90000"/>
            </a:lnSpc>
            <a:spcBef>
              <a:spcPct val="0"/>
            </a:spcBef>
            <a:spcAft>
              <a:spcPct val="35000"/>
            </a:spcAft>
            <a:buNone/>
          </a:pPr>
          <a:r>
            <a:rPr lang="en-US" sz="1600" kern="1200" dirty="0"/>
            <a:t>1 </a:t>
          </a:r>
        </a:p>
      </dsp:txBody>
      <dsp:txXfrm>
        <a:off x="677396" y="182963"/>
        <a:ext cx="882311" cy="882311"/>
      </dsp:txXfrm>
    </dsp:sp>
    <dsp:sp modelId="{F660F4B9-35DB-4256-A868-A35C6DCCF6B2}">
      <dsp:nvSpPr>
        <dsp:cNvPr id="0" name=""/>
        <dsp:cNvSpPr/>
      </dsp:nvSpPr>
      <dsp:spPr>
        <a:xfrm>
          <a:off x="4612322" y="499341"/>
          <a:ext cx="1961124" cy="3524130"/>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1120" rIns="71120" bIns="71120" numCol="1" spcCol="1270" anchor="ctr" anchorCtr="0">
          <a:noAutofit/>
        </a:bodyPr>
        <a:lstStyle/>
        <a:p>
          <a:pPr marL="0" lvl="0" indent="0" algn="l" defTabSz="444500">
            <a:lnSpc>
              <a:spcPct val="90000"/>
            </a:lnSpc>
            <a:spcBef>
              <a:spcPct val="0"/>
            </a:spcBef>
            <a:spcAft>
              <a:spcPct val="35000"/>
            </a:spcAft>
            <a:buNone/>
          </a:pPr>
          <a:r>
            <a:rPr lang="en-US" sz="1000" u="none" kern="1200" dirty="0">
              <a:uFillTx/>
            </a:rPr>
            <a:t>To evaluate and compare the performance of different machine learning models (Random Forest, SVM, LSTM, CNN) for detecting known and zero-day ransomware variants. </a:t>
          </a:r>
          <a:endParaRPr lang="en-US" sz="1000" kern="1200" dirty="0"/>
        </a:p>
      </dsp:txBody>
      <dsp:txXfrm>
        <a:off x="4926102" y="499341"/>
        <a:ext cx="1647344" cy="3524130"/>
      </dsp:txXfrm>
    </dsp:sp>
    <dsp:sp modelId="{FD776C1E-557E-4553-9447-49B69EEC7907}">
      <dsp:nvSpPr>
        <dsp:cNvPr id="0" name=""/>
        <dsp:cNvSpPr/>
      </dsp:nvSpPr>
      <dsp:spPr>
        <a:xfrm>
          <a:off x="3703564" y="231"/>
          <a:ext cx="1247775" cy="1247775"/>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Objective</a:t>
          </a:r>
        </a:p>
        <a:p>
          <a:pPr marL="0" lvl="0" indent="0" algn="ctr" defTabSz="711200">
            <a:lnSpc>
              <a:spcPct val="90000"/>
            </a:lnSpc>
            <a:spcBef>
              <a:spcPct val="0"/>
            </a:spcBef>
            <a:spcAft>
              <a:spcPct val="35000"/>
            </a:spcAft>
            <a:buNone/>
          </a:pPr>
          <a:r>
            <a:rPr lang="en-US" sz="1600" kern="1200" dirty="0"/>
            <a:t>2</a:t>
          </a:r>
        </a:p>
      </dsp:txBody>
      <dsp:txXfrm>
        <a:off x="3886296" y="182963"/>
        <a:ext cx="882311" cy="882311"/>
      </dsp:txXfrm>
    </dsp:sp>
    <dsp:sp modelId="{AD2806AC-6A03-4F05-9F4D-F72EA0E56FBF}">
      <dsp:nvSpPr>
        <dsp:cNvPr id="0" name=""/>
        <dsp:cNvSpPr/>
      </dsp:nvSpPr>
      <dsp:spPr>
        <a:xfrm>
          <a:off x="7821221" y="499341"/>
          <a:ext cx="1871662" cy="4072426"/>
        </a:xfrm>
        <a:prstGeom prst="rect">
          <a:avLst/>
        </a:prstGeom>
        <a:solidFill>
          <a:schemeClr val="accent1">
            <a:alpha val="90000"/>
            <a:tint val="40000"/>
            <a:hueOff val="0"/>
            <a:satOff val="0"/>
            <a:lumOff val="0"/>
            <a:alphaOff val="0"/>
          </a:schemeClr>
        </a:solidFill>
        <a:ln w="6350"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71120" rIns="71120" bIns="71120" numCol="1" spcCol="1270" anchor="ctr" anchorCtr="0">
          <a:noAutofit/>
        </a:bodyPr>
        <a:lstStyle/>
        <a:p>
          <a:pPr marL="0" lvl="0" indent="0" algn="l" defTabSz="444500">
            <a:lnSpc>
              <a:spcPct val="90000"/>
            </a:lnSpc>
            <a:spcBef>
              <a:spcPct val="0"/>
            </a:spcBef>
            <a:spcAft>
              <a:spcPct val="35000"/>
            </a:spcAft>
            <a:buNone/>
          </a:pPr>
          <a:r>
            <a:rPr lang="en-US" sz="1000" u="none" kern="1200" dirty="0">
              <a:uFillTx/>
            </a:rPr>
            <a:t>To analyze how training dataset quality, feature selection, and adversarial robustness affect the accuracy and false-positive rates of ML-based detection systems. </a:t>
          </a:r>
          <a:endParaRPr lang="en-US" sz="1000" kern="1200" dirty="0"/>
        </a:p>
      </dsp:txBody>
      <dsp:txXfrm>
        <a:off x="8120687" y="499341"/>
        <a:ext cx="1572196" cy="4072426"/>
      </dsp:txXfrm>
    </dsp:sp>
    <dsp:sp modelId="{89E6DA6E-7A23-44BD-8A99-378091FF741D}">
      <dsp:nvSpPr>
        <dsp:cNvPr id="0" name=""/>
        <dsp:cNvSpPr/>
      </dsp:nvSpPr>
      <dsp:spPr>
        <a:xfrm>
          <a:off x="6823001" y="231"/>
          <a:ext cx="1247775" cy="1247775"/>
        </a:xfrm>
        <a:prstGeom prst="ellipse">
          <a:avLst/>
        </a:prstGeom>
        <a:gradFill rotWithShape="0">
          <a:gsLst>
            <a:gs pos="0">
              <a:schemeClr val="accent1">
                <a:hueOff val="0"/>
                <a:satOff val="0"/>
                <a:lumOff val="0"/>
                <a:alphaOff val="0"/>
                <a:shade val="100000"/>
                <a:satMod val="137000"/>
              </a:schemeClr>
            </a:gs>
            <a:gs pos="71000">
              <a:schemeClr val="accent1">
                <a:hueOff val="0"/>
                <a:satOff val="0"/>
                <a:lumOff val="0"/>
                <a:alphaOff val="0"/>
                <a:shade val="98000"/>
                <a:satMod val="137000"/>
              </a:schemeClr>
            </a:gs>
            <a:gs pos="100000">
              <a:schemeClr val="accent1">
                <a:hueOff val="0"/>
                <a:satOff val="0"/>
                <a:lumOff val="0"/>
                <a:alphaOff val="0"/>
                <a:shade val="75000"/>
                <a:satMod val="137000"/>
              </a:schemeClr>
            </a:gs>
          </a:gsLst>
          <a:path path="rect">
            <a:fillToRect l="50000" t="50000" r="50000" b="50000"/>
          </a:path>
        </a:gradFill>
        <a:ln>
          <a:noFill/>
        </a:ln>
        <a:effectLst>
          <a:outerShdw blurRad="39000" dist="25400" dir="5400000" rotWithShape="0">
            <a:srgbClr val="000000">
              <a:alpha val="3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Objective</a:t>
          </a:r>
        </a:p>
        <a:p>
          <a:pPr marL="0" lvl="0" indent="0" algn="ctr" defTabSz="711200">
            <a:lnSpc>
              <a:spcPct val="90000"/>
            </a:lnSpc>
            <a:spcBef>
              <a:spcPct val="0"/>
            </a:spcBef>
            <a:spcAft>
              <a:spcPct val="35000"/>
            </a:spcAft>
            <a:buNone/>
          </a:pPr>
          <a:r>
            <a:rPr lang="en-US" sz="1600" kern="1200" dirty="0"/>
            <a:t>3</a:t>
          </a:r>
        </a:p>
      </dsp:txBody>
      <dsp:txXfrm>
        <a:off x="7005733" y="182963"/>
        <a:ext cx="882311" cy="8823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5F0CB8-B570-47E1-9F45-9A1B2A3A2F92}">
      <dsp:nvSpPr>
        <dsp:cNvPr id="0" name=""/>
        <dsp:cNvSpPr/>
      </dsp:nvSpPr>
      <dsp:spPr>
        <a:xfrm>
          <a:off x="2267527" y="2144860"/>
          <a:ext cx="1604292" cy="278430"/>
        </a:xfrm>
        <a:custGeom>
          <a:avLst/>
          <a:gdLst/>
          <a:ahLst/>
          <a:cxnLst/>
          <a:rect l="0" t="0" r="0" b="0"/>
          <a:pathLst>
            <a:path>
              <a:moveTo>
                <a:pt x="0" y="0"/>
              </a:moveTo>
              <a:lnTo>
                <a:pt x="0" y="139215"/>
              </a:lnTo>
              <a:lnTo>
                <a:pt x="1604292" y="139215"/>
              </a:lnTo>
              <a:lnTo>
                <a:pt x="1604292" y="27843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18004-34C9-48DE-98EA-80D384E78FF4}">
      <dsp:nvSpPr>
        <dsp:cNvPr id="0" name=""/>
        <dsp:cNvSpPr/>
      </dsp:nvSpPr>
      <dsp:spPr>
        <a:xfrm>
          <a:off x="2221807" y="2144860"/>
          <a:ext cx="91440" cy="278430"/>
        </a:xfrm>
        <a:custGeom>
          <a:avLst/>
          <a:gdLst/>
          <a:ahLst/>
          <a:cxnLst/>
          <a:rect l="0" t="0" r="0" b="0"/>
          <a:pathLst>
            <a:path>
              <a:moveTo>
                <a:pt x="45720" y="0"/>
              </a:moveTo>
              <a:lnTo>
                <a:pt x="45720" y="27843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3E81BA-1AD8-47AF-9108-8D1054CE11F5}">
      <dsp:nvSpPr>
        <dsp:cNvPr id="0" name=""/>
        <dsp:cNvSpPr/>
      </dsp:nvSpPr>
      <dsp:spPr>
        <a:xfrm>
          <a:off x="663235" y="2144860"/>
          <a:ext cx="1604292" cy="278430"/>
        </a:xfrm>
        <a:custGeom>
          <a:avLst/>
          <a:gdLst/>
          <a:ahLst/>
          <a:cxnLst/>
          <a:rect l="0" t="0" r="0" b="0"/>
          <a:pathLst>
            <a:path>
              <a:moveTo>
                <a:pt x="1604292" y="0"/>
              </a:moveTo>
              <a:lnTo>
                <a:pt x="1604292" y="139215"/>
              </a:lnTo>
              <a:lnTo>
                <a:pt x="0" y="139215"/>
              </a:lnTo>
              <a:lnTo>
                <a:pt x="0" y="278430"/>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A9A80E-9B0B-4555-A3C2-02F6D85C7F5D}">
      <dsp:nvSpPr>
        <dsp:cNvPr id="0" name=""/>
        <dsp:cNvSpPr/>
      </dsp:nvSpPr>
      <dsp:spPr>
        <a:xfrm>
          <a:off x="1604596" y="1481929"/>
          <a:ext cx="1325861" cy="662930"/>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Research variables</a:t>
          </a:r>
        </a:p>
      </dsp:txBody>
      <dsp:txXfrm>
        <a:off x="1604596" y="1481929"/>
        <a:ext cx="1325861" cy="662930"/>
      </dsp:txXfrm>
    </dsp:sp>
    <dsp:sp modelId="{E40DDE91-89EF-4175-9C27-31495C22853D}">
      <dsp:nvSpPr>
        <dsp:cNvPr id="0" name=""/>
        <dsp:cNvSpPr/>
      </dsp:nvSpPr>
      <dsp:spPr>
        <a:xfrm>
          <a:off x="304" y="2423290"/>
          <a:ext cx="1325861" cy="662930"/>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Independent Variable</a:t>
          </a:r>
        </a:p>
      </dsp:txBody>
      <dsp:txXfrm>
        <a:off x="304" y="2423290"/>
        <a:ext cx="1325861" cy="662930"/>
      </dsp:txXfrm>
    </dsp:sp>
    <dsp:sp modelId="{11C10F74-5CCD-4623-9A20-A48AC70D0D45}">
      <dsp:nvSpPr>
        <dsp:cNvPr id="0" name=""/>
        <dsp:cNvSpPr/>
      </dsp:nvSpPr>
      <dsp:spPr>
        <a:xfrm>
          <a:off x="1604596" y="2423290"/>
          <a:ext cx="1325861" cy="662930"/>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Dependent Variable</a:t>
          </a:r>
          <a:r>
            <a:rPr lang="en-US" sz="1800" kern="1200" dirty="0"/>
            <a:t> </a:t>
          </a:r>
        </a:p>
      </dsp:txBody>
      <dsp:txXfrm>
        <a:off x="1604596" y="2423290"/>
        <a:ext cx="1325861" cy="662930"/>
      </dsp:txXfrm>
    </dsp:sp>
    <dsp:sp modelId="{16D1E0FC-F33E-47B6-A0CE-DEA4FEC22FEA}">
      <dsp:nvSpPr>
        <dsp:cNvPr id="0" name=""/>
        <dsp:cNvSpPr/>
      </dsp:nvSpPr>
      <dsp:spPr>
        <a:xfrm>
          <a:off x="3208889" y="2423290"/>
          <a:ext cx="1325861" cy="662930"/>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Control Variables</a:t>
          </a:r>
          <a:endParaRPr lang="en-US" sz="1800" kern="1200" dirty="0"/>
        </a:p>
      </dsp:txBody>
      <dsp:txXfrm>
        <a:off x="3208889" y="2423290"/>
        <a:ext cx="1325861" cy="662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8702B5-DFED-448E-A469-00543D3E9EBB}">
      <dsp:nvSpPr>
        <dsp:cNvPr id="0" name=""/>
        <dsp:cNvSpPr/>
      </dsp:nvSpPr>
      <dsp:spPr>
        <a:xfrm>
          <a:off x="1501705" y="-43889"/>
          <a:ext cx="3784987" cy="3784987"/>
        </a:xfrm>
        <a:prstGeom prst="circularArrow">
          <a:avLst>
            <a:gd name="adj1" fmla="val 4668"/>
            <a:gd name="adj2" fmla="val 272909"/>
            <a:gd name="adj3" fmla="val 13577213"/>
            <a:gd name="adj4" fmla="val 17544116"/>
            <a:gd name="adj5" fmla="val 484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F625A0-9F33-4C75-8412-F28B4617D81B}">
      <dsp:nvSpPr>
        <dsp:cNvPr id="0" name=""/>
        <dsp:cNvSpPr/>
      </dsp:nvSpPr>
      <dsp:spPr>
        <a:xfrm>
          <a:off x="2392214" y="187930"/>
          <a:ext cx="2003970" cy="54401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Data Collection</a:t>
          </a:r>
        </a:p>
      </dsp:txBody>
      <dsp:txXfrm>
        <a:off x="2418770" y="214486"/>
        <a:ext cx="1950858" cy="490898"/>
      </dsp:txXfrm>
    </dsp:sp>
    <dsp:sp modelId="{AA21218E-712F-498E-9AAA-7F352EB7EF08}">
      <dsp:nvSpPr>
        <dsp:cNvPr id="0" name=""/>
        <dsp:cNvSpPr/>
      </dsp:nvSpPr>
      <dsp:spPr>
        <a:xfrm>
          <a:off x="4077351" y="1668646"/>
          <a:ext cx="1610451" cy="5962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Feature Engineering</a:t>
          </a:r>
        </a:p>
      </dsp:txBody>
      <dsp:txXfrm>
        <a:off x="4106458" y="1697753"/>
        <a:ext cx="1552237" cy="538054"/>
      </dsp:txXfrm>
    </dsp:sp>
    <dsp:sp modelId="{4FD0006F-1E19-42CE-8658-EBA843D84CC9}">
      <dsp:nvSpPr>
        <dsp:cNvPr id="0" name=""/>
        <dsp:cNvSpPr/>
      </dsp:nvSpPr>
      <dsp:spPr>
        <a:xfrm>
          <a:off x="2355286" y="3130685"/>
          <a:ext cx="2022439" cy="556562"/>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Model Selection</a:t>
          </a:r>
        </a:p>
      </dsp:txBody>
      <dsp:txXfrm>
        <a:off x="2382455" y="3157854"/>
        <a:ext cx="1968101" cy="502224"/>
      </dsp:txXfrm>
    </dsp:sp>
    <dsp:sp modelId="{06EE8F10-5617-47D3-BC7E-B435441EB1D6}">
      <dsp:nvSpPr>
        <dsp:cNvPr id="0" name=""/>
        <dsp:cNvSpPr/>
      </dsp:nvSpPr>
      <dsp:spPr>
        <a:xfrm>
          <a:off x="925438" y="1594755"/>
          <a:ext cx="1462022" cy="744051"/>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Evaluation Metrics</a:t>
          </a:r>
        </a:p>
      </dsp:txBody>
      <dsp:txXfrm>
        <a:off x="961760" y="1631077"/>
        <a:ext cx="1389378" cy="671407"/>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12/5/2025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12/5/2025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12/5/2025</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12/5/2025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12/5/2025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12/5/2025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12/5/2025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12/5/2025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12/5/2025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12/5/2025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12/5/2025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12/5/2025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12/5/2025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12/5/2025</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www.symantec.com/research/ransomware"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arxiv.org/abs/1609.03020"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3003550" y="808734"/>
            <a:ext cx="8985250" cy="2219691"/>
          </a:xfrm>
        </p:spPr>
        <p:txBody>
          <a:bodyPr anchor="ctr">
            <a:normAutofit/>
          </a:bodyPr>
          <a:lstStyle/>
          <a:p>
            <a:r>
              <a:rPr lang="en-US" sz="1600" b="1" dirty="0">
                <a:latin typeface="Times New Roman" panose="02020603050405020304" pitchFamily="18" charset="0"/>
                <a:cs typeface="Times New Roman" panose="02020603050405020304" pitchFamily="18" charset="0"/>
              </a:rPr>
              <a:t>TITLE: AI- and Machine Learning-Based Frameworks for Early Detection and Mitigation of Ransomware in Cybersecurity Systems </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58BECE82-A38F-16A3-8BE1-15D464874D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662" y="0"/>
            <a:ext cx="1026892" cy="101863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1E3727-374C-8580-6E5A-A4C189E2BF95}"/>
              </a:ext>
            </a:extLst>
          </p:cNvPr>
          <p:cNvSpPr txBox="1"/>
          <p:nvPr/>
        </p:nvSpPr>
        <p:spPr>
          <a:xfrm>
            <a:off x="3003550" y="0"/>
            <a:ext cx="8857788" cy="923330"/>
          </a:xfrm>
          <a:prstGeom prst="rect">
            <a:avLst/>
          </a:prstGeom>
          <a:noFill/>
        </p:spPr>
        <p:txBody>
          <a:bodyPr wrap="square" rtlCol="0">
            <a:spAutoFit/>
          </a:bodyPr>
          <a:lstStyle/>
          <a:p>
            <a:r>
              <a:rPr lang="en-US" altLang="en-US" b="1" dirty="0">
                <a:solidFill>
                  <a:schemeClr val="bg1"/>
                </a:solidFill>
                <a:latin typeface="Times New Roman" panose="02020603050405020304" pitchFamily="18" charset="0"/>
                <a:cs typeface="Times New Roman" panose="02020603050405020304" pitchFamily="18" charset="0"/>
              </a:rPr>
              <a:t>AMERICAN INTERNATIONAL UNIVERSITY-BANGLADESH</a:t>
            </a:r>
            <a:endParaRPr lang="en-US" altLang="en-US" dirty="0">
              <a:solidFill>
                <a:schemeClr val="bg1"/>
              </a:solidFill>
              <a:latin typeface="Times New Roman" panose="02020603050405020304" pitchFamily="18" charset="0"/>
              <a:cs typeface="Times New Roman" panose="02020603050405020304" pitchFamily="18" charset="0"/>
            </a:endParaRPr>
          </a:p>
          <a:p>
            <a:r>
              <a:rPr lang="en-US" altLang="en-US" b="1" dirty="0">
                <a:solidFill>
                  <a:schemeClr val="bg1"/>
                </a:solidFill>
                <a:latin typeface="Times New Roman" panose="02020603050405020304" pitchFamily="18" charset="0"/>
                <a:cs typeface="Times New Roman" panose="02020603050405020304" pitchFamily="18" charset="0"/>
              </a:rPr>
              <a:t>Faculty of Science and Technology</a:t>
            </a:r>
            <a:endParaRPr lang="en-US" altLang="en-US"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A5CFB3D-D0C3-14F7-9A27-7F0CC11B7487}"/>
              </a:ext>
            </a:extLst>
          </p:cNvPr>
          <p:cNvSpPr txBox="1"/>
          <p:nvPr/>
        </p:nvSpPr>
        <p:spPr>
          <a:xfrm>
            <a:off x="2881630" y="2275840"/>
            <a:ext cx="7258050"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COURSE : RESEARCH METHODOLOGY</a:t>
            </a:r>
          </a:p>
        </p:txBody>
      </p:sp>
      <p:sp>
        <p:nvSpPr>
          <p:cNvPr id="15" name="TextBox 14">
            <a:extLst>
              <a:ext uri="{FF2B5EF4-FFF2-40B4-BE49-F238E27FC236}">
                <a16:creationId xmlns:a16="http://schemas.microsoft.com/office/drawing/2014/main" id="{B9EC902D-6514-A655-DF70-F4F4AEF065D2}"/>
              </a:ext>
            </a:extLst>
          </p:cNvPr>
          <p:cNvSpPr txBox="1"/>
          <p:nvPr/>
        </p:nvSpPr>
        <p:spPr>
          <a:xfrm>
            <a:off x="1953441" y="2832044"/>
            <a:ext cx="1978298"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GROUP MEMBER:</a:t>
            </a:r>
          </a:p>
        </p:txBody>
      </p:sp>
      <p:graphicFrame>
        <p:nvGraphicFramePr>
          <p:cNvPr id="18" name="Table 17">
            <a:extLst>
              <a:ext uri="{FF2B5EF4-FFF2-40B4-BE49-F238E27FC236}">
                <a16:creationId xmlns:a16="http://schemas.microsoft.com/office/drawing/2014/main" id="{ED1342AE-888F-6171-0260-62A891635440}"/>
              </a:ext>
            </a:extLst>
          </p:cNvPr>
          <p:cNvGraphicFramePr>
            <a:graphicFrameLocks noGrp="1"/>
          </p:cNvGraphicFramePr>
          <p:nvPr>
            <p:extLst>
              <p:ext uri="{D42A27DB-BD31-4B8C-83A1-F6EECF244321}">
                <p14:modId xmlns:p14="http://schemas.microsoft.com/office/powerpoint/2010/main" val="1607478555"/>
              </p:ext>
            </p:extLst>
          </p:nvPr>
        </p:nvGraphicFramePr>
        <p:xfrm>
          <a:off x="2011680" y="3246075"/>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79972481"/>
                    </a:ext>
                  </a:extLst>
                </a:gridCol>
                <a:gridCol w="4064000">
                  <a:extLst>
                    <a:ext uri="{9D8B030D-6E8A-4147-A177-3AD203B41FA5}">
                      <a16:colId xmlns:a16="http://schemas.microsoft.com/office/drawing/2014/main" val="2533839450"/>
                    </a:ext>
                  </a:extLst>
                </a:gridCol>
              </a:tblGrid>
              <a:tr h="370840">
                <a:tc>
                  <a:txBody>
                    <a:bodyPr/>
                    <a:lstStyle/>
                    <a:p>
                      <a:pPr algn="ctr"/>
                      <a:r>
                        <a:rPr lang="en-US" dirty="0"/>
                        <a:t>NAME</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r>
                        <a:rPr lang="en-US" dirty="0"/>
                        <a:t>ID</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02972963"/>
                  </a:ext>
                </a:extLst>
              </a:tr>
              <a:tr h="370840">
                <a:tc>
                  <a:txBody>
                    <a:bodyPr/>
                    <a:lstStyle/>
                    <a:p>
                      <a:pPr algn="l"/>
                      <a:r>
                        <a:rPr lang="en-US" dirty="0"/>
                        <a:t>MD.KAMRUL HASAN</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dirty="0"/>
                        <a:t>23-50738-1</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788940280"/>
                  </a:ext>
                </a:extLst>
              </a:tr>
              <a:tr h="370840">
                <a:tc>
                  <a:txBody>
                    <a:bodyPr/>
                    <a:lstStyle/>
                    <a:p>
                      <a:pPr algn="l"/>
                      <a:r>
                        <a:rPr lang="en-US" dirty="0"/>
                        <a:t>MD. SHAMSUL ALAM</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dirty="0"/>
                        <a:t>23-50735-1</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11353051"/>
                  </a:ext>
                </a:extLst>
              </a:tr>
              <a:tr h="370840">
                <a:tc>
                  <a:txBody>
                    <a:bodyPr/>
                    <a:lstStyle/>
                    <a:p>
                      <a:pPr algn="l"/>
                      <a:r>
                        <a:rPr lang="en-US" dirty="0"/>
                        <a:t>MD. FAHIM SHAHRIARE SOPNIL</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dirty="0"/>
                        <a:t>22-46523-1</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168547701"/>
                  </a:ext>
                </a:extLst>
              </a:tr>
              <a:tr h="370840">
                <a:tc>
                  <a:txBody>
                    <a:bodyPr/>
                    <a:lstStyle/>
                    <a:p>
                      <a:pPr algn="l"/>
                      <a:r>
                        <a:rPr lang="en-US" dirty="0"/>
                        <a:t>ABU RAIHAN AFSAN</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dirty="0"/>
                        <a:t>22-47169-1</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30832430"/>
                  </a:ext>
                </a:extLst>
              </a:tr>
              <a:tr h="370840">
                <a:tc>
                  <a:txBody>
                    <a:bodyPr/>
                    <a:lstStyle/>
                    <a:p>
                      <a:pPr algn="l"/>
                      <a:r>
                        <a:rPr lang="en-US" dirty="0"/>
                        <a:t>JAHID MAHMUD TURAG</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US" dirty="0"/>
                        <a:t>21-45638-3</a:t>
                      </a:r>
                      <a:endParaRPr lang="en-US"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930793583"/>
                  </a:ext>
                </a:extLst>
              </a:tr>
            </a:tbl>
          </a:graphicData>
        </a:graphic>
      </p:graphicFrame>
      <p:sp>
        <p:nvSpPr>
          <p:cNvPr id="19" name="TextBox 18">
            <a:extLst>
              <a:ext uri="{FF2B5EF4-FFF2-40B4-BE49-F238E27FC236}">
                <a16:creationId xmlns:a16="http://schemas.microsoft.com/office/drawing/2014/main" id="{5A096DEB-4E25-5D0A-6020-1D299DDDBC4B}"/>
              </a:ext>
            </a:extLst>
          </p:cNvPr>
          <p:cNvSpPr txBox="1"/>
          <p:nvPr/>
        </p:nvSpPr>
        <p:spPr>
          <a:xfrm>
            <a:off x="7884543" y="5934974"/>
            <a:ext cx="3510951" cy="646331"/>
          </a:xfrm>
          <a:prstGeom prst="rect">
            <a:avLst/>
          </a:prstGeom>
          <a:noFill/>
        </p:spPr>
        <p:txBody>
          <a:bodyPr wrap="square" rtlCol="0">
            <a:spAutoFit/>
          </a:bodyPr>
          <a:lstStyle/>
          <a:p>
            <a:r>
              <a:rPr lang="en-US" dirty="0">
                <a:solidFill>
                  <a:schemeClr val="bg1"/>
                </a:solidFill>
              </a:rPr>
              <a:t>SUPERVISED BY</a:t>
            </a:r>
            <a:br>
              <a:rPr lang="en-US" dirty="0">
                <a:solidFill>
                  <a:schemeClr val="bg1"/>
                </a:solidFill>
              </a:rPr>
            </a:br>
            <a:r>
              <a:rPr lang="en-US" dirty="0">
                <a:solidFill>
                  <a:schemeClr val="bg1"/>
                </a:solidFill>
              </a:rPr>
              <a:t>Dr. Md. Abdullah-Al-Jubair</a:t>
            </a:r>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Content List</a:t>
            </a:r>
          </a:p>
        </p:txBody>
      </p:sp>
      <p:sp>
        <p:nvSpPr>
          <p:cNvPr id="14" name="Content Placeholder 13"/>
          <p:cNvSpPr>
            <a:spLocks noGrp="1"/>
          </p:cNvSpPr>
          <p:nvPr>
            <p:ph idx="1"/>
          </p:nvPr>
        </p:nvSpPr>
        <p:spPr/>
        <p:txBody>
          <a:bodyPr>
            <a:normAutofit fontScale="85000" lnSpcReduction="20000"/>
          </a:bodyPr>
          <a:lstStyle/>
          <a:p>
            <a:r>
              <a:rPr lang="en-US" dirty="0"/>
              <a:t>Introduction</a:t>
            </a:r>
          </a:p>
          <a:p>
            <a:r>
              <a:rPr lang="en-US" dirty="0"/>
              <a:t>Problem Statement</a:t>
            </a:r>
          </a:p>
          <a:p>
            <a:r>
              <a:rPr lang="en-US" dirty="0"/>
              <a:t>Primary research question</a:t>
            </a:r>
          </a:p>
          <a:p>
            <a:r>
              <a:rPr lang="en-US" dirty="0"/>
              <a:t>Aims/Objective</a:t>
            </a:r>
          </a:p>
          <a:p>
            <a:r>
              <a:rPr lang="en-US" dirty="0"/>
              <a:t>Hypothesis</a:t>
            </a:r>
          </a:p>
          <a:p>
            <a:r>
              <a:rPr lang="en-US" dirty="0"/>
              <a:t>Literature review</a:t>
            </a:r>
          </a:p>
          <a:p>
            <a:r>
              <a:rPr lang="en-US" dirty="0"/>
              <a:t>Selection of design</a:t>
            </a:r>
          </a:p>
          <a:p>
            <a:r>
              <a:rPr lang="en-US" dirty="0"/>
              <a:t>Research variables</a:t>
            </a:r>
          </a:p>
          <a:p>
            <a:r>
              <a:rPr lang="en-US" dirty="0"/>
              <a:t>Methodology</a:t>
            </a:r>
          </a:p>
          <a:p>
            <a:r>
              <a:rPr lang="en-US" dirty="0"/>
              <a:t>Scientific method (Diagram)</a:t>
            </a:r>
          </a:p>
          <a:p>
            <a:r>
              <a:rPr lang="en-US" dirty="0"/>
              <a:t>References</a:t>
            </a:r>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5" name="TextBox 4">
            <a:extLst>
              <a:ext uri="{FF2B5EF4-FFF2-40B4-BE49-F238E27FC236}">
                <a16:creationId xmlns:a16="http://schemas.microsoft.com/office/drawing/2014/main" id="{37AA1F7B-586C-7F81-FAD0-D6B113028104}"/>
              </a:ext>
            </a:extLst>
          </p:cNvPr>
          <p:cNvSpPr txBox="1"/>
          <p:nvPr/>
        </p:nvSpPr>
        <p:spPr>
          <a:xfrm>
            <a:off x="1009290" y="2311881"/>
            <a:ext cx="6331789" cy="2462213"/>
          </a:xfrm>
          <a:prstGeom prst="rect">
            <a:avLst/>
          </a:prstGeom>
          <a:noFill/>
        </p:spPr>
        <p:txBody>
          <a:bodyPr wrap="square" rtlCol="0">
            <a:spAutoFit/>
          </a:bodyPr>
          <a:lstStyle/>
          <a:p>
            <a:r>
              <a:rPr lang="en-US" sz="1400"/>
              <a:t>Ransomware is becoming more advanced and harder to detect with traditional signature-based methods. AI and Machine Learning offer faster, behavior-based detection by monitoring unusual file activity, rapid encryption, and abnormal network traffic. Although challenges like false positives and adversarial attacks remain, AI-driven models provide a stronger and more adaptive defense against evolving ransomware threats.</a:t>
            </a:r>
          </a:p>
          <a:p>
            <a:endParaRPr lang="en-US" sz="1400"/>
          </a:p>
          <a:p>
            <a:endParaRPr lang="en-US" sz="1400"/>
          </a:p>
          <a:p>
            <a:r>
              <a:rPr lang="en-US" sz="1400" b="1"/>
              <a:t>Example:</a:t>
            </a:r>
            <a:r>
              <a:rPr lang="en-US" sz="1400"/>
              <a:t> An ML model can flag ransomware early by detecting a sudden spike in file encryption speed, allowing the system to stop the attack before major damage occurs.</a:t>
            </a:r>
            <a:endParaRPr lang="en-US" sz="1400" dirty="0"/>
          </a:p>
        </p:txBody>
      </p:sp>
      <p:pic>
        <p:nvPicPr>
          <p:cNvPr id="8" name="Picture 7" descr="A computer screen shot of a computer&#10;&#10;AI-generated content may be incorrect.">
            <a:extLst>
              <a:ext uri="{FF2B5EF4-FFF2-40B4-BE49-F238E27FC236}">
                <a16:creationId xmlns:a16="http://schemas.microsoft.com/office/drawing/2014/main" id="{306E7890-6D27-8DB0-E60C-11FE526741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1079" y="2391336"/>
            <a:ext cx="4572003" cy="2560320"/>
          </a:xfrm>
          <a:prstGeom prst="rect">
            <a:avLst/>
          </a:prstGeom>
        </p:spPr>
      </p:pic>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sz="half" idx="1"/>
          </p:nvPr>
        </p:nvSpPr>
        <p:spPr/>
        <p:txBody>
          <a:bodyPr>
            <a:normAutofit/>
          </a:bodyPr>
          <a:lstStyle/>
          <a:p>
            <a:r>
              <a:rPr lang="en-US" sz="1400" dirty="0"/>
              <a:t>AI and machine learning have strengths in ransomware detection but face problems in wide-scale application. ML-powered detectors struggle to generalize, especially for new ransomware families using adversarial techniques. Models are often not robust enough to recognize new or modified variants accurately.</a:t>
            </a:r>
          </a:p>
          <a:p>
            <a:pPr marL="0" indent="0">
              <a:buNone/>
            </a:pPr>
            <a:endParaRPr lang="en-US" sz="1400" dirty="0"/>
          </a:p>
        </p:txBody>
      </p:sp>
      <p:sp>
        <p:nvSpPr>
          <p:cNvPr id="9" name="TextBox 8">
            <a:extLst>
              <a:ext uri="{FF2B5EF4-FFF2-40B4-BE49-F238E27FC236}">
                <a16:creationId xmlns:a16="http://schemas.microsoft.com/office/drawing/2014/main" id="{E54DBD0B-2EB9-F2B2-BA8F-EFB2C5D10C01}"/>
              </a:ext>
            </a:extLst>
          </p:cNvPr>
          <p:cNvSpPr txBox="1"/>
          <p:nvPr/>
        </p:nvSpPr>
        <p:spPr>
          <a:xfrm>
            <a:off x="1104900" y="3006387"/>
            <a:ext cx="6096000" cy="665118"/>
          </a:xfrm>
          <a:prstGeom prst="rect">
            <a:avLst/>
          </a:prstGeom>
          <a:noFill/>
        </p:spPr>
        <p:txBody>
          <a:bodyPr wrap="square">
            <a:spAutoFit/>
          </a:bodyPr>
          <a:lstStyle/>
          <a:p>
            <a:pPr marL="6350" marR="7620" indent="-6350">
              <a:lnSpc>
                <a:spcPct val="107000"/>
              </a:lnSpc>
              <a:spcAft>
                <a:spcPts val="1385"/>
              </a:spcAft>
              <a:buNone/>
            </a:pPr>
            <a:r>
              <a:rPr lang="en-US" sz="1800" kern="100" dirty="0">
                <a:solidFill>
                  <a:srgbClr val="000000"/>
                </a:solidFill>
                <a:effectLst/>
                <a:latin typeface="Times New Roman" panose="02020603050405020304" pitchFamily="18" charset="0"/>
                <a:ea typeface="Times New Roman" panose="02020603050405020304" pitchFamily="18" charset="0"/>
              </a:rPr>
              <a:t>To resolve the problem, the following primary components characterize the research dilemma:  </a:t>
            </a:r>
          </a:p>
        </p:txBody>
      </p:sp>
      <p:graphicFrame>
        <p:nvGraphicFramePr>
          <p:cNvPr id="10" name="Diagram 9">
            <a:extLst>
              <a:ext uri="{FF2B5EF4-FFF2-40B4-BE49-F238E27FC236}">
                <a16:creationId xmlns:a16="http://schemas.microsoft.com/office/drawing/2014/main" id="{22D574FA-92CB-B5E1-0F33-C36FAF95B9A9}"/>
              </a:ext>
            </a:extLst>
          </p:cNvPr>
          <p:cNvGraphicFramePr/>
          <p:nvPr>
            <p:extLst>
              <p:ext uri="{D42A27DB-BD31-4B8C-83A1-F6EECF244321}">
                <p14:modId xmlns:p14="http://schemas.microsoft.com/office/powerpoint/2010/main" val="3193656889"/>
              </p:ext>
            </p:extLst>
          </p:nvPr>
        </p:nvGraphicFramePr>
        <p:xfrm>
          <a:off x="1178791" y="3842326"/>
          <a:ext cx="5212080" cy="2651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1" name="Diagram 10">
            <a:extLst>
              <a:ext uri="{FF2B5EF4-FFF2-40B4-BE49-F238E27FC236}">
                <a16:creationId xmlns:a16="http://schemas.microsoft.com/office/drawing/2014/main" id="{79A29A36-D25B-83CE-9B73-2D8B1732ABE3}"/>
              </a:ext>
            </a:extLst>
          </p:cNvPr>
          <p:cNvGraphicFramePr/>
          <p:nvPr>
            <p:extLst>
              <p:ext uri="{D42A27DB-BD31-4B8C-83A1-F6EECF244321}">
                <p14:modId xmlns:p14="http://schemas.microsoft.com/office/powerpoint/2010/main" val="3128427409"/>
              </p:ext>
            </p:extLst>
          </p:nvPr>
        </p:nvGraphicFramePr>
        <p:xfrm>
          <a:off x="6531263" y="3994726"/>
          <a:ext cx="5212080" cy="265176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90A69-3F35-7EEE-821D-DCFC52EBE5F4}"/>
              </a:ext>
            </a:extLst>
          </p:cNvPr>
          <p:cNvSpPr>
            <a:spLocks noGrp="1"/>
          </p:cNvSpPr>
          <p:nvPr>
            <p:ph type="title"/>
          </p:nvPr>
        </p:nvSpPr>
        <p:spPr/>
        <p:txBody>
          <a:bodyPr/>
          <a:lstStyle/>
          <a:p>
            <a:r>
              <a:rPr lang="en-US" dirty="0"/>
              <a:t>Primary research question</a:t>
            </a:r>
          </a:p>
        </p:txBody>
      </p:sp>
      <p:sp>
        <p:nvSpPr>
          <p:cNvPr id="4" name="TextBox 3">
            <a:extLst>
              <a:ext uri="{FF2B5EF4-FFF2-40B4-BE49-F238E27FC236}">
                <a16:creationId xmlns:a16="http://schemas.microsoft.com/office/drawing/2014/main" id="{C13C5C9B-4241-81A5-8CCA-A897F03C80C9}"/>
              </a:ext>
            </a:extLst>
          </p:cNvPr>
          <p:cNvSpPr txBox="1"/>
          <p:nvPr/>
        </p:nvSpPr>
        <p:spPr>
          <a:xfrm>
            <a:off x="1237673" y="2454877"/>
            <a:ext cx="6096000" cy="1694246"/>
          </a:xfrm>
          <a:prstGeom prst="rect">
            <a:avLst/>
          </a:prstGeom>
          <a:noFill/>
        </p:spPr>
        <p:txBody>
          <a:bodyPr wrap="square">
            <a:spAutoFit/>
          </a:bodyPr>
          <a:lstStyle/>
          <a:p>
            <a:pPr marL="6350" marR="7620" indent="-6350">
              <a:lnSpc>
                <a:spcPct val="149000"/>
              </a:lnSpc>
              <a:spcAft>
                <a:spcPts val="820"/>
              </a:spcAft>
              <a:buNone/>
            </a:pPr>
            <a:r>
              <a:rPr lang="en-US" sz="1800" kern="100" dirty="0">
                <a:solidFill>
                  <a:srgbClr val="000000"/>
                </a:solidFill>
                <a:effectLst/>
                <a:latin typeface="Times New Roman" panose="02020603050405020304" pitchFamily="18" charset="0"/>
                <a:ea typeface="Times New Roman" panose="02020603050405020304" pitchFamily="18" charset="0"/>
              </a:rPr>
              <a:t>How effectively can machine learning and artificial intelligence techniques improve early-stage ransomware detection compared to traditional signature-based methods in modern computing environments? </a:t>
            </a:r>
          </a:p>
        </p:txBody>
      </p:sp>
    </p:spTree>
    <p:extLst>
      <p:ext uri="{BB962C8B-B14F-4D97-AF65-F5344CB8AC3E}">
        <p14:creationId xmlns:p14="http://schemas.microsoft.com/office/powerpoint/2010/main" val="228279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Specific Aims/Objectives </a:t>
            </a:r>
            <a:endParaRPr lang="en-US" dirty="0"/>
          </a:p>
        </p:txBody>
      </p:sp>
      <p:graphicFrame>
        <p:nvGraphicFramePr>
          <p:cNvPr id="4" name="Content Placeholder 3" descr="Stacked List showing 4 groups arranged from left to right with task descriptions under each group"/>
          <p:cNvGraphicFramePr>
            <a:graphicFrameLocks noGrp="1"/>
          </p:cNvGraphicFramePr>
          <p:nvPr>
            <p:ph idx="1"/>
            <p:extLst>
              <p:ext uri="{D42A27DB-BD31-4B8C-83A1-F6EECF244321}">
                <p14:modId xmlns:p14="http://schemas.microsoft.com/office/powerpoint/2010/main" val="3844236350"/>
              </p:ext>
            </p:extLst>
          </p:nvPr>
        </p:nvGraphicFramePr>
        <p:xfrm>
          <a:off x="1104900" y="1600200"/>
          <a:ext cx="99822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Hypothesis</a:t>
            </a:r>
            <a:endParaRPr lang="en-US" dirty="0"/>
          </a:p>
        </p:txBody>
      </p:sp>
      <p:sp>
        <p:nvSpPr>
          <p:cNvPr id="4" name="Text Placeholder 3"/>
          <p:cNvSpPr>
            <a:spLocks noGrp="1"/>
          </p:cNvSpPr>
          <p:nvPr>
            <p:ph type="body" sz="half" idx="2"/>
          </p:nvPr>
        </p:nvSpPr>
        <p:spPr>
          <a:xfrm>
            <a:off x="1141845" y="1941946"/>
            <a:ext cx="8713355" cy="4572000"/>
          </a:xfrm>
        </p:spPr>
        <p:txBody>
          <a:bodyPr/>
          <a:lstStyle/>
          <a:p>
            <a:r>
              <a:rPr lang="en-US" b="1" dirty="0"/>
              <a:t>H</a:t>
            </a:r>
            <a:r>
              <a:rPr lang="en-US" b="1" baseline="-25000" dirty="0"/>
              <a:t>0</a:t>
            </a:r>
            <a:r>
              <a:rPr lang="en-US" b="1" dirty="0"/>
              <a:t>:</a:t>
            </a:r>
            <a:r>
              <a:rPr lang="en-US" dirty="0"/>
              <a:t> AI/ML techniques do not significantly improve ransomware detection compared to traditional methods. </a:t>
            </a:r>
          </a:p>
          <a:p>
            <a:endParaRPr lang="en-US" dirty="0"/>
          </a:p>
          <a:p>
            <a:endParaRPr lang="en-US" dirty="0"/>
          </a:p>
          <a:p>
            <a:endParaRPr lang="en-US" dirty="0"/>
          </a:p>
          <a:p>
            <a:r>
              <a:rPr lang="en-US" b="1" dirty="0"/>
              <a:t>H</a:t>
            </a:r>
            <a:r>
              <a:rPr lang="en-US" b="1" baseline="-25000" dirty="0"/>
              <a:t>1</a:t>
            </a:r>
            <a:r>
              <a:rPr lang="en-US" b="1" dirty="0"/>
              <a:t>:</a:t>
            </a:r>
            <a:r>
              <a:rPr lang="en-US" dirty="0"/>
              <a:t> AI/ML techniques do significantly improve ransomware detection compared to traditional methods.</a:t>
            </a:r>
          </a:p>
        </p:txBody>
      </p:sp>
    </p:spTree>
    <p:extLst>
      <p:ext uri="{BB962C8B-B14F-4D97-AF65-F5344CB8AC3E}">
        <p14:creationId xmlns:p14="http://schemas.microsoft.com/office/powerpoint/2010/main" val="368354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58AA8-EB8C-5988-E1B6-8A61F1B635E3}"/>
              </a:ext>
            </a:extLst>
          </p:cNvPr>
          <p:cNvSpPr>
            <a:spLocks noGrp="1"/>
          </p:cNvSpPr>
          <p:nvPr>
            <p:ph type="title"/>
          </p:nvPr>
        </p:nvSpPr>
        <p:spPr/>
        <p:txBody>
          <a:bodyPr/>
          <a:lstStyle/>
          <a:p>
            <a:r>
              <a:rPr lang="en-US" dirty="0"/>
              <a:t>Literature review</a:t>
            </a:r>
          </a:p>
        </p:txBody>
      </p:sp>
      <p:sp>
        <p:nvSpPr>
          <p:cNvPr id="4" name="TextBox 3">
            <a:extLst>
              <a:ext uri="{FF2B5EF4-FFF2-40B4-BE49-F238E27FC236}">
                <a16:creationId xmlns:a16="http://schemas.microsoft.com/office/drawing/2014/main" id="{79DA68E6-A7C5-BB4D-3387-2669B9BBE84F}"/>
              </a:ext>
            </a:extLst>
          </p:cNvPr>
          <p:cNvSpPr txBox="1"/>
          <p:nvPr/>
        </p:nvSpPr>
        <p:spPr>
          <a:xfrm>
            <a:off x="1209964" y="1644073"/>
            <a:ext cx="8857672" cy="4893647"/>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1200" b="1" dirty="0" err="1">
                <a:latin typeface="Arial" panose="020B0604020202020204" pitchFamily="34" charset="0"/>
              </a:rPr>
              <a:t>Alraizza</a:t>
            </a:r>
            <a:r>
              <a:rPr lang="en-US" altLang="en-US" sz="1200" b="1" dirty="0">
                <a:latin typeface="Arial" panose="020B0604020202020204" pitchFamily="34" charset="0"/>
              </a:rPr>
              <a:t> &amp; </a:t>
            </a:r>
            <a:r>
              <a:rPr lang="en-US" altLang="en-US" sz="1200" b="1" dirty="0" err="1">
                <a:latin typeface="Arial" panose="020B0604020202020204" pitchFamily="34" charset="0"/>
              </a:rPr>
              <a:t>Algarni</a:t>
            </a:r>
            <a:r>
              <a:rPr lang="en-US" altLang="en-US" sz="1200" b="1" dirty="0">
                <a:latin typeface="Arial" panose="020B0604020202020204" pitchFamily="34" charset="0"/>
              </a:rPr>
              <a:t> [11]:</a:t>
            </a:r>
            <a:r>
              <a:rPr lang="en-US" altLang="en-US" sz="1200" dirty="0">
                <a:latin typeface="Arial" panose="020B0604020202020204" pitchFamily="34" charset="0"/>
              </a:rPr>
              <a:t> Surveyed AI methods (ML, DL, ANN) for ransomware detection. Random Forest &amp; Deep Learning achieved up to 99.9% accuracy. Limitations: lack of real-world datasets, poor zero-day detection.</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a:latin typeface="Arial" panose="020B0604020202020204" pitchFamily="34" charset="0"/>
              </a:rPr>
              <a:t>Nagar [12]:</a:t>
            </a:r>
            <a:r>
              <a:rPr lang="en-US" altLang="en-US" sz="1200" dirty="0">
                <a:latin typeface="Arial" panose="020B0604020202020204" pitchFamily="34" charset="0"/>
              </a:rPr>
              <a:t> Reviewed ransomware evolution (AIDS Trojan → RaaS). Emphasized multi-layered defense (EDR, user training). Focused on qualitative analysis, no ML benchmarking.</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a:latin typeface="Arial" panose="020B0604020202020204" pitchFamily="34" charset="0"/>
              </a:rPr>
              <a:t>Jimmy [13]:</a:t>
            </a:r>
            <a:r>
              <a:rPr lang="en-US" altLang="en-US" sz="1200" dirty="0">
                <a:latin typeface="Arial" panose="020B0604020202020204" pitchFamily="34" charset="0"/>
              </a:rPr>
              <a:t> Analyzed detection trends (static/dynamic, ML like RF &amp; SVM). Hybrid models reached ~99% detection. Challenges: dataset imbalance, high computation cost for dynamic analysis.</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a:latin typeface="Arial" panose="020B0604020202020204" pitchFamily="34" charset="0"/>
              </a:rPr>
              <a:t>Talu [14]:</a:t>
            </a:r>
            <a:r>
              <a:rPr lang="en-US" altLang="en-US" sz="1200" dirty="0">
                <a:latin typeface="Arial" panose="020B0604020202020204" pitchFamily="34" charset="0"/>
              </a:rPr>
              <a:t> Evaluated </a:t>
            </a:r>
            <a:r>
              <a:rPr lang="en-US" altLang="en-US" sz="1200" dirty="0" err="1">
                <a:latin typeface="Arial" panose="020B0604020202020204" pitchFamily="34" charset="0"/>
              </a:rPr>
              <a:t>IIoT</a:t>
            </a:r>
            <a:r>
              <a:rPr lang="en-US" altLang="en-US" sz="1200" dirty="0">
                <a:latin typeface="Arial" panose="020B0604020202020204" pitchFamily="34" charset="0"/>
              </a:rPr>
              <a:t> security. IDS critical but current solutions insufficient for large-scale IoT environments.</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a:latin typeface="Arial" panose="020B0604020202020204" pitchFamily="34" charset="0"/>
              </a:rPr>
              <a:t>Humayun et al. [15]:</a:t>
            </a:r>
            <a:r>
              <a:rPr lang="en-US" altLang="en-US" sz="1200" dirty="0">
                <a:latin typeface="Arial" panose="020B0604020202020204" pitchFamily="34" charset="0"/>
              </a:rPr>
              <a:t> Studied ransomware in IoT. Highlighted growing attack surface and increased potential damage. Focused on theoretical prevention.</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a:latin typeface="Arial" panose="020B0604020202020204" pitchFamily="34" charset="0"/>
              </a:rPr>
              <a:t>Shaikh et al. [16]:</a:t>
            </a:r>
            <a:r>
              <a:rPr lang="en-US" altLang="en-US" sz="1200" dirty="0">
                <a:latin typeface="Arial" panose="020B0604020202020204" pitchFamily="34" charset="0"/>
              </a:rPr>
              <a:t> SLR on Pre-Encryption Ransomware Detection. ML methods outperform conventional approaches. Challenges: high computation, resource-limited devices.</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err="1">
                <a:latin typeface="Arial" panose="020B0604020202020204" pitchFamily="34" charset="0"/>
              </a:rPr>
              <a:t>Ispahany</a:t>
            </a:r>
            <a:r>
              <a:rPr lang="en-US" altLang="en-US" sz="1200" b="1" dirty="0">
                <a:latin typeface="Arial" panose="020B0604020202020204" pitchFamily="34" charset="0"/>
              </a:rPr>
              <a:t> et al. [17]:</a:t>
            </a:r>
            <a:r>
              <a:rPr lang="en-US" altLang="en-US" sz="1200" dirty="0">
                <a:latin typeface="Arial" panose="020B0604020202020204" pitchFamily="34" charset="0"/>
              </a:rPr>
              <a:t> Reviewed ML detection frameworks (centralized vs federated). Most methods detect ransomware late; instant detection underexplored.</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err="1">
                <a:latin typeface="Arial" panose="020B0604020202020204" pitchFamily="34" charset="0"/>
              </a:rPr>
              <a:t>Gazzan</a:t>
            </a:r>
            <a:r>
              <a:rPr lang="en-US" altLang="en-US" sz="1200" b="1" dirty="0">
                <a:latin typeface="Arial" panose="020B0604020202020204" pitchFamily="34" charset="0"/>
              </a:rPr>
              <a:t> &amp; Sheldon [18]:</a:t>
            </a:r>
            <a:r>
              <a:rPr lang="en-US" altLang="en-US" sz="1200" dirty="0">
                <a:latin typeface="Arial" panose="020B0604020202020204" pitchFamily="34" charset="0"/>
              </a:rPr>
              <a:t> UA-DES-DBN achieved 98% precision &amp; 0.10 false alarm rate using API call features. Need further calibration &amp; interpretability study.</a:t>
            </a:r>
          </a:p>
          <a:p>
            <a:pPr lvl="0" eaLnBrk="0" fontAlgn="base" hangingPunct="0">
              <a:spcBef>
                <a:spcPct val="0"/>
              </a:spcBef>
              <a:spcAft>
                <a:spcPct val="0"/>
              </a:spcAft>
              <a:buFontTx/>
              <a:buChar char="•"/>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b="1" dirty="0">
                <a:latin typeface="Arial" panose="020B0604020202020204" pitchFamily="34" charset="0"/>
              </a:rPr>
              <a:t>Smith &amp; Daniel [19]:</a:t>
            </a:r>
            <a:r>
              <a:rPr lang="en-US" altLang="en-US" sz="1200" dirty="0">
                <a:latin typeface="Arial" panose="020B0604020202020204" pitchFamily="34" charset="0"/>
              </a:rPr>
              <a:t> Explored RaaS ecosystem. Highlights evasion innovation &amp; attack volume; focused on business model, not ML detection.</a:t>
            </a:r>
          </a:p>
          <a:p>
            <a:endParaRPr lang="en-US" sz="1200" dirty="0"/>
          </a:p>
        </p:txBody>
      </p:sp>
    </p:spTree>
    <p:extLst>
      <p:ext uri="{BB962C8B-B14F-4D97-AF65-F5344CB8AC3E}">
        <p14:creationId xmlns:p14="http://schemas.microsoft.com/office/powerpoint/2010/main" val="116675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D0682-B98A-0E5D-4AF0-87C76C7D714A}"/>
              </a:ext>
            </a:extLst>
          </p:cNvPr>
          <p:cNvSpPr>
            <a:spLocks noGrp="1"/>
          </p:cNvSpPr>
          <p:nvPr>
            <p:ph type="title"/>
          </p:nvPr>
        </p:nvSpPr>
        <p:spPr/>
        <p:txBody>
          <a:bodyPr/>
          <a:lstStyle/>
          <a:p>
            <a:r>
              <a:rPr lang="en-US" dirty="0"/>
              <a:t>Selection of design and Reason for Selection </a:t>
            </a:r>
          </a:p>
        </p:txBody>
      </p:sp>
      <p:sp>
        <p:nvSpPr>
          <p:cNvPr id="4" name="TextBox 3">
            <a:extLst>
              <a:ext uri="{FF2B5EF4-FFF2-40B4-BE49-F238E27FC236}">
                <a16:creationId xmlns:a16="http://schemas.microsoft.com/office/drawing/2014/main" id="{E99FD330-8407-5863-05D1-1058E5FEBEFB}"/>
              </a:ext>
            </a:extLst>
          </p:cNvPr>
          <p:cNvSpPr txBox="1"/>
          <p:nvPr/>
        </p:nvSpPr>
        <p:spPr>
          <a:xfrm>
            <a:off x="1104900" y="1584098"/>
            <a:ext cx="6096000" cy="369332"/>
          </a:xfrm>
          <a:prstGeom prst="rect">
            <a:avLst/>
          </a:prstGeom>
          <a:noFill/>
        </p:spPr>
        <p:txBody>
          <a:bodyPr wrap="square">
            <a:spAutoFit/>
          </a:bodyPr>
          <a:lstStyle/>
          <a:p>
            <a:r>
              <a:rPr lang="en-US" b="1" dirty="0"/>
              <a:t>Design Chosen:</a:t>
            </a:r>
            <a:r>
              <a:rPr lang="en-US" dirty="0"/>
              <a:t> Quantitative Design.</a:t>
            </a:r>
          </a:p>
        </p:txBody>
      </p:sp>
      <p:sp>
        <p:nvSpPr>
          <p:cNvPr id="6" name="TextBox 5">
            <a:extLst>
              <a:ext uri="{FF2B5EF4-FFF2-40B4-BE49-F238E27FC236}">
                <a16:creationId xmlns:a16="http://schemas.microsoft.com/office/drawing/2014/main" id="{5B1D2E0E-7D29-D2C9-1BBE-9A694E628A7C}"/>
              </a:ext>
            </a:extLst>
          </p:cNvPr>
          <p:cNvSpPr txBox="1"/>
          <p:nvPr/>
        </p:nvSpPr>
        <p:spPr>
          <a:xfrm>
            <a:off x="1104900" y="2581949"/>
            <a:ext cx="8515927" cy="3139321"/>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b="1" dirty="0">
                <a:latin typeface="Arial" panose="020B0604020202020204" pitchFamily="34" charset="0"/>
              </a:rPr>
              <a:t>Ransomware detection involves large datasets: </a:t>
            </a:r>
            <a:r>
              <a:rPr lang="en-US" altLang="en-US" dirty="0">
                <a:latin typeface="Arial" panose="020B0604020202020204" pitchFamily="34" charset="0"/>
              </a:rPr>
              <a:t>network traffic, file behaviors, and system logs.</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ML model evaluation uses numerical metrics: </a:t>
            </a:r>
            <a:r>
              <a:rPr lang="en-US" altLang="en-US" dirty="0">
                <a:latin typeface="Arial" panose="020B0604020202020204" pitchFamily="34" charset="0"/>
              </a:rPr>
              <a:t>detection accuracy, false positive rates, and performance indicators.</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Quantitative design allows structured analysis, pattern identification, and anomaly detection.</a:t>
            </a:r>
          </a:p>
          <a:p>
            <a:pPr lvl="0" eaLnBrk="0" fontAlgn="base" hangingPunct="0">
              <a:spcBef>
                <a:spcPct val="0"/>
              </a:spcBef>
              <a:spcAft>
                <a:spcPct val="0"/>
              </a:spcAft>
              <a:buFontTx/>
              <a:buChar char="•"/>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dirty="0">
                <a:latin typeface="Arial" panose="020B0604020202020204" pitchFamily="34" charset="0"/>
              </a:rPr>
              <a:t>Ensures high reproducibility and statistical validation of results.</a:t>
            </a:r>
          </a:p>
          <a:p>
            <a:endParaRPr lang="en-US" dirty="0"/>
          </a:p>
        </p:txBody>
      </p:sp>
    </p:spTree>
    <p:extLst>
      <p:ext uri="{BB962C8B-B14F-4D97-AF65-F5344CB8AC3E}">
        <p14:creationId xmlns:p14="http://schemas.microsoft.com/office/powerpoint/2010/main" val="3539748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D603-4139-28A8-4C1E-4CCC7886914B}"/>
              </a:ext>
            </a:extLst>
          </p:cNvPr>
          <p:cNvSpPr>
            <a:spLocks noGrp="1"/>
          </p:cNvSpPr>
          <p:nvPr>
            <p:ph type="title"/>
          </p:nvPr>
        </p:nvSpPr>
        <p:spPr/>
        <p:txBody>
          <a:bodyPr/>
          <a:lstStyle/>
          <a:p>
            <a:r>
              <a:rPr lang="en-US" dirty="0"/>
              <a:t>Research variables</a:t>
            </a:r>
          </a:p>
        </p:txBody>
      </p:sp>
      <p:sp>
        <p:nvSpPr>
          <p:cNvPr id="4" name="TextBox 3">
            <a:extLst>
              <a:ext uri="{FF2B5EF4-FFF2-40B4-BE49-F238E27FC236}">
                <a16:creationId xmlns:a16="http://schemas.microsoft.com/office/drawing/2014/main" id="{BDE69B32-1B83-CFE7-0D2B-FB63DC652D39}"/>
              </a:ext>
            </a:extLst>
          </p:cNvPr>
          <p:cNvSpPr txBox="1"/>
          <p:nvPr/>
        </p:nvSpPr>
        <p:spPr>
          <a:xfrm>
            <a:off x="1104900" y="1418654"/>
            <a:ext cx="6096000" cy="4671856"/>
          </a:xfrm>
          <a:prstGeom prst="rect">
            <a:avLst/>
          </a:prstGeom>
          <a:noFill/>
        </p:spPr>
        <p:txBody>
          <a:bodyPr wrap="square">
            <a:spAutoFit/>
          </a:bodyPr>
          <a:lstStyle/>
          <a:p>
            <a:pPr marL="6350" marR="7620" indent="-6350">
              <a:lnSpc>
                <a:spcPct val="149000"/>
              </a:lnSpc>
              <a:spcAft>
                <a:spcPts val="820"/>
              </a:spcAft>
              <a:buNone/>
            </a:pPr>
            <a:r>
              <a:rPr lang="en-US" sz="1800" b="1" kern="100" dirty="0">
                <a:solidFill>
                  <a:srgbClr val="000000"/>
                </a:solidFill>
                <a:effectLst/>
                <a:latin typeface="Times New Roman" panose="02020603050405020304" pitchFamily="18" charset="0"/>
                <a:ea typeface="Times New Roman" panose="02020603050405020304" pitchFamily="18" charset="0"/>
              </a:rPr>
              <a:t>Independent Variable: </a:t>
            </a:r>
            <a:r>
              <a:rPr lang="en-US" sz="1800" kern="100" dirty="0">
                <a:solidFill>
                  <a:srgbClr val="000000"/>
                </a:solidFill>
                <a:effectLst/>
                <a:latin typeface="Times New Roman" panose="02020603050405020304" pitchFamily="18" charset="0"/>
                <a:ea typeface="Times New Roman" panose="02020603050405020304" pitchFamily="18" charset="0"/>
              </a:rPr>
              <a:t>Features taken out from system/network data (for instance, file entropy, API call frequency, and network packet size) [22].  </a:t>
            </a:r>
          </a:p>
          <a:p>
            <a:pPr marL="6350" marR="7620" indent="-6350">
              <a:lnSpc>
                <a:spcPct val="149000"/>
              </a:lnSpc>
              <a:spcAft>
                <a:spcPts val="820"/>
              </a:spcAft>
              <a:buNone/>
            </a:pPr>
            <a:r>
              <a:rPr lang="en-US" sz="1800" b="1" kern="100" dirty="0">
                <a:solidFill>
                  <a:srgbClr val="000000"/>
                </a:solidFill>
                <a:effectLst/>
                <a:latin typeface="Times New Roman" panose="02020603050405020304" pitchFamily="18" charset="0"/>
                <a:ea typeface="Times New Roman" panose="02020603050405020304" pitchFamily="18" charset="0"/>
              </a:rPr>
              <a:t>Dependent Variable:</a:t>
            </a:r>
            <a:r>
              <a:rPr lang="en-US" sz="1800" kern="100" dirty="0">
                <a:solidFill>
                  <a:srgbClr val="000000"/>
                </a:solidFill>
                <a:effectLst/>
                <a:latin typeface="Times New Roman" panose="02020603050405020304" pitchFamily="18" charset="0"/>
                <a:ea typeface="Times New Roman" panose="02020603050405020304" pitchFamily="18" charset="0"/>
              </a:rPr>
              <a:t> The detection accuracy of the machine learning model (the percentage of ransomware correctly identified) [20].  </a:t>
            </a:r>
          </a:p>
          <a:p>
            <a:pPr marL="6350" marR="0" indent="-6350">
              <a:lnSpc>
                <a:spcPct val="107000"/>
              </a:lnSpc>
              <a:spcAft>
                <a:spcPts val="1385"/>
              </a:spcAft>
              <a:buNone/>
            </a:pPr>
            <a:r>
              <a:rPr lang="en-US" sz="1800" b="1" kern="100" dirty="0">
                <a:solidFill>
                  <a:srgbClr val="000000"/>
                </a:solidFill>
                <a:effectLst/>
                <a:latin typeface="Times New Roman" panose="02020603050405020304" pitchFamily="18" charset="0"/>
                <a:ea typeface="Times New Roman" panose="02020603050405020304" pitchFamily="18" charset="0"/>
              </a:rPr>
              <a:t>Control Variables:  </a:t>
            </a:r>
            <a:endParaRPr lang="en-US" sz="1800" kern="100" dirty="0">
              <a:solidFill>
                <a:srgbClr val="000000"/>
              </a:solidFill>
              <a:effectLst/>
              <a:latin typeface="Times New Roman" panose="02020603050405020304" pitchFamily="18" charset="0"/>
              <a:ea typeface="Times New Roman" panose="02020603050405020304" pitchFamily="18" charset="0"/>
            </a:endParaRPr>
          </a:p>
          <a:p>
            <a:pPr marL="6350" marR="7620" indent="-6350">
              <a:lnSpc>
                <a:spcPct val="107000"/>
              </a:lnSpc>
              <a:spcAft>
                <a:spcPts val="1405"/>
              </a:spcAft>
              <a:buNone/>
            </a:pPr>
            <a:r>
              <a:rPr lang="en-US" sz="1800" kern="100" dirty="0">
                <a:solidFill>
                  <a:srgbClr val="000000"/>
                </a:solidFill>
                <a:effectLst/>
                <a:latin typeface="Times New Roman" panose="02020603050405020304" pitchFamily="18" charset="0"/>
                <a:ea typeface="Times New Roman" panose="02020603050405020304" pitchFamily="18" charset="0"/>
              </a:rPr>
              <a:t>Type of machine learning algorithms (like Random Forest, SVM, Neural Networks)  </a:t>
            </a:r>
          </a:p>
          <a:p>
            <a:pPr marL="342900" marR="7620" lvl="0" indent="-342900" fontAlgn="base">
              <a:lnSpc>
                <a:spcPct val="107000"/>
              </a:lnSpc>
              <a:spcAft>
                <a:spcPts val="615"/>
              </a:spcAft>
              <a:buClr>
                <a:srgbClr val="000000"/>
              </a:buClr>
              <a:buSzPts val="1200"/>
              <a:buFont typeface="+mj-lt"/>
              <a:buAutoNum type="arabicPeriod"/>
            </a:pPr>
            <a:r>
              <a:rPr lang="en-US"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Dataset size and origin  </a:t>
            </a:r>
          </a:p>
          <a:p>
            <a:pPr marL="342900" marR="7620" lvl="0" indent="-342900" fontAlgn="base">
              <a:lnSpc>
                <a:spcPct val="107000"/>
              </a:lnSpc>
              <a:spcAft>
                <a:spcPts val="820"/>
              </a:spcAft>
              <a:buClr>
                <a:srgbClr val="000000"/>
              </a:buClr>
              <a:buSzPts val="1200"/>
              <a:buFont typeface="+mj-lt"/>
              <a:buAutoNum type="arabicPeriod"/>
            </a:pPr>
            <a:r>
              <a:rPr lang="en-US" sz="1800" u="none" strike="noStrike" kern="100" dirty="0">
                <a:solidFill>
                  <a:srgbClr val="000000"/>
                </a:solidFill>
                <a:effectLst/>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Method of feature selection  </a:t>
            </a:r>
          </a:p>
        </p:txBody>
      </p:sp>
      <p:graphicFrame>
        <p:nvGraphicFramePr>
          <p:cNvPr id="5" name="Diagram 4">
            <a:extLst>
              <a:ext uri="{FF2B5EF4-FFF2-40B4-BE49-F238E27FC236}">
                <a16:creationId xmlns:a16="http://schemas.microsoft.com/office/drawing/2014/main" id="{CC65588B-C7E3-D647-D968-8BECDC980739}"/>
              </a:ext>
            </a:extLst>
          </p:cNvPr>
          <p:cNvGraphicFramePr/>
          <p:nvPr>
            <p:extLst>
              <p:ext uri="{D42A27DB-BD31-4B8C-83A1-F6EECF244321}">
                <p14:modId xmlns:p14="http://schemas.microsoft.com/office/powerpoint/2010/main" val="1600055740"/>
              </p:ext>
            </p:extLst>
          </p:nvPr>
        </p:nvGraphicFramePr>
        <p:xfrm>
          <a:off x="7010399" y="1428034"/>
          <a:ext cx="4535055" cy="45681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569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722D6-D113-099C-3EDF-6D6362516D65}"/>
              </a:ext>
            </a:extLst>
          </p:cNvPr>
          <p:cNvSpPr>
            <a:spLocks noGrp="1"/>
          </p:cNvSpPr>
          <p:nvPr>
            <p:ph type="title"/>
          </p:nvPr>
        </p:nvSpPr>
        <p:spPr/>
        <p:txBody>
          <a:bodyPr/>
          <a:lstStyle/>
          <a:p>
            <a:r>
              <a:rPr lang="en-US" b="1" dirty="0"/>
              <a:t>Methodology</a:t>
            </a:r>
            <a:endParaRPr lang="en-US" dirty="0"/>
          </a:p>
        </p:txBody>
      </p:sp>
      <p:graphicFrame>
        <p:nvGraphicFramePr>
          <p:cNvPr id="10" name="Diagram 9">
            <a:extLst>
              <a:ext uri="{FF2B5EF4-FFF2-40B4-BE49-F238E27FC236}">
                <a16:creationId xmlns:a16="http://schemas.microsoft.com/office/drawing/2014/main" id="{3C887888-C617-E90D-945A-D7F50E0C35C7}"/>
              </a:ext>
            </a:extLst>
          </p:cNvPr>
          <p:cNvGraphicFramePr/>
          <p:nvPr>
            <p:extLst>
              <p:ext uri="{D42A27DB-BD31-4B8C-83A1-F6EECF244321}">
                <p14:modId xmlns:p14="http://schemas.microsoft.com/office/powerpoint/2010/main" val="4000996685"/>
              </p:ext>
            </p:extLst>
          </p:nvPr>
        </p:nvGraphicFramePr>
        <p:xfrm>
          <a:off x="2207490" y="1967345"/>
          <a:ext cx="6770255" cy="39398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9980B717-17EA-DB22-0EFC-E61B5CCD3FF6}"/>
              </a:ext>
            </a:extLst>
          </p:cNvPr>
          <p:cNvSpPr txBox="1"/>
          <p:nvPr/>
        </p:nvSpPr>
        <p:spPr>
          <a:xfrm>
            <a:off x="6871855" y="1973530"/>
            <a:ext cx="3620654" cy="523220"/>
          </a:xfrm>
          <a:prstGeom prst="rect">
            <a:avLst/>
          </a:prstGeom>
          <a:noFill/>
        </p:spPr>
        <p:txBody>
          <a:bodyPr wrap="square" rtlCol="0">
            <a:spAutoFit/>
          </a:bodyPr>
          <a:lstStyle/>
          <a:p>
            <a:r>
              <a:rPr lang="en-US" sz="1400" dirty="0"/>
              <a:t>Datasets of public ransomware (like EMBER, </a:t>
            </a:r>
            <a:r>
              <a:rPr lang="en-US" sz="1400" dirty="0" err="1"/>
              <a:t>VirusShare</a:t>
            </a:r>
            <a:r>
              <a:rPr lang="en-US" sz="1400" dirty="0"/>
              <a:t>) [22]. </a:t>
            </a:r>
          </a:p>
        </p:txBody>
      </p:sp>
      <p:sp>
        <p:nvSpPr>
          <p:cNvPr id="13" name="TextBox 12">
            <a:extLst>
              <a:ext uri="{FF2B5EF4-FFF2-40B4-BE49-F238E27FC236}">
                <a16:creationId xmlns:a16="http://schemas.microsoft.com/office/drawing/2014/main" id="{F1DE21DA-315C-6608-4996-B52144927DDA}"/>
              </a:ext>
            </a:extLst>
          </p:cNvPr>
          <p:cNvSpPr txBox="1"/>
          <p:nvPr/>
        </p:nvSpPr>
        <p:spPr>
          <a:xfrm>
            <a:off x="7989454" y="3560506"/>
            <a:ext cx="3011055" cy="738664"/>
          </a:xfrm>
          <a:prstGeom prst="rect">
            <a:avLst/>
          </a:prstGeom>
          <a:noFill/>
        </p:spPr>
        <p:txBody>
          <a:bodyPr wrap="square">
            <a:spAutoFit/>
          </a:bodyPr>
          <a:lstStyle/>
          <a:p>
            <a:r>
              <a:rPr lang="en-US" sz="1400" dirty="0">
                <a:solidFill>
                  <a:srgbClr val="000000"/>
                </a:solidFill>
                <a:effectLst/>
                <a:latin typeface="Times New Roman" panose="02020603050405020304" pitchFamily="18" charset="0"/>
                <a:ea typeface="Times New Roman" panose="02020603050405020304" pitchFamily="18" charset="0"/>
              </a:rPr>
              <a:t>From files and network logs, static and behavioral features will be extracted [21]. </a:t>
            </a:r>
            <a:endParaRPr lang="en-US" sz="1400" dirty="0"/>
          </a:p>
        </p:txBody>
      </p:sp>
      <p:sp>
        <p:nvSpPr>
          <p:cNvPr id="15" name="TextBox 14">
            <a:extLst>
              <a:ext uri="{FF2B5EF4-FFF2-40B4-BE49-F238E27FC236}">
                <a16:creationId xmlns:a16="http://schemas.microsoft.com/office/drawing/2014/main" id="{CF9AA322-34A4-69E1-1DC8-AB321AF9E1AD}"/>
              </a:ext>
            </a:extLst>
          </p:cNvPr>
          <p:cNvSpPr txBox="1"/>
          <p:nvPr/>
        </p:nvSpPr>
        <p:spPr>
          <a:xfrm>
            <a:off x="7028873" y="4993594"/>
            <a:ext cx="3306618" cy="738664"/>
          </a:xfrm>
          <a:prstGeom prst="rect">
            <a:avLst/>
          </a:prstGeom>
          <a:noFill/>
        </p:spPr>
        <p:txBody>
          <a:bodyPr wrap="square">
            <a:spAutoFit/>
          </a:bodyPr>
          <a:lstStyle/>
          <a:p>
            <a:r>
              <a:rPr lang="en-US" sz="1400" dirty="0">
                <a:solidFill>
                  <a:srgbClr val="000000"/>
                </a:solidFill>
                <a:effectLst/>
                <a:latin typeface="Times New Roman" panose="02020603050405020304" pitchFamily="18" charset="0"/>
                <a:ea typeface="Times New Roman" panose="02020603050405020304" pitchFamily="18" charset="0"/>
              </a:rPr>
              <a:t>A comparison between supervised learning algorithms (Random Forest, Gradient Boosting, Neural Networks) [20]. </a:t>
            </a:r>
            <a:endParaRPr lang="en-US" sz="1400" dirty="0"/>
          </a:p>
        </p:txBody>
      </p:sp>
      <p:sp>
        <p:nvSpPr>
          <p:cNvPr id="17" name="TextBox 16">
            <a:extLst>
              <a:ext uri="{FF2B5EF4-FFF2-40B4-BE49-F238E27FC236}">
                <a16:creationId xmlns:a16="http://schemas.microsoft.com/office/drawing/2014/main" id="{0B972CAF-124A-119B-B871-94F9FDE72479}"/>
              </a:ext>
            </a:extLst>
          </p:cNvPr>
          <p:cNvSpPr txBox="1"/>
          <p:nvPr/>
        </p:nvSpPr>
        <p:spPr>
          <a:xfrm>
            <a:off x="831272" y="3675654"/>
            <a:ext cx="2207491" cy="523220"/>
          </a:xfrm>
          <a:prstGeom prst="rect">
            <a:avLst/>
          </a:prstGeom>
          <a:noFill/>
        </p:spPr>
        <p:txBody>
          <a:bodyPr wrap="square">
            <a:spAutoFit/>
          </a:bodyPr>
          <a:lstStyle/>
          <a:p>
            <a:r>
              <a:rPr lang="en-US" sz="1400" dirty="0">
                <a:solidFill>
                  <a:srgbClr val="000000"/>
                </a:solidFill>
                <a:effectLst/>
                <a:latin typeface="Times New Roman" panose="02020603050405020304" pitchFamily="18" charset="0"/>
                <a:ea typeface="Times New Roman" panose="02020603050405020304" pitchFamily="18" charset="0"/>
              </a:rPr>
              <a:t>Accuracy, Precision, Recall, F1-score, ROC-AUC [21]. </a:t>
            </a:r>
            <a:endParaRPr lang="en-US" sz="1400" dirty="0"/>
          </a:p>
        </p:txBody>
      </p:sp>
      <p:sp>
        <p:nvSpPr>
          <p:cNvPr id="18" name="Rectangle: Rounded Corners 17">
            <a:extLst>
              <a:ext uri="{FF2B5EF4-FFF2-40B4-BE49-F238E27FC236}">
                <a16:creationId xmlns:a16="http://schemas.microsoft.com/office/drawing/2014/main" id="{DE8AA0A8-3266-C9AA-4101-618C92B927C3}"/>
              </a:ext>
            </a:extLst>
          </p:cNvPr>
          <p:cNvSpPr/>
          <p:nvPr/>
        </p:nvSpPr>
        <p:spPr>
          <a:xfrm>
            <a:off x="369455" y="5362926"/>
            <a:ext cx="2890981" cy="11117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Expected Outcome  </a:t>
            </a:r>
            <a:endParaRPr lang="en-US" sz="900" dirty="0"/>
          </a:p>
          <a:p>
            <a:r>
              <a:rPr lang="en-US" sz="900" dirty="0"/>
              <a:t>The research intends to cope with the most talented machine learning model for ransomware detection by cutting down false positives and increasing the speed of real-time threat mitigation [20], [21].  </a:t>
            </a:r>
          </a:p>
        </p:txBody>
      </p:sp>
    </p:spTree>
    <p:extLst>
      <p:ext uri="{BB962C8B-B14F-4D97-AF65-F5344CB8AC3E}">
        <p14:creationId xmlns:p14="http://schemas.microsoft.com/office/powerpoint/2010/main" val="2664009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468BA-912C-5E98-8F6A-0856CF6075D9}"/>
              </a:ext>
            </a:extLst>
          </p:cNvPr>
          <p:cNvSpPr>
            <a:spLocks noGrp="1"/>
          </p:cNvSpPr>
          <p:nvPr>
            <p:ph type="title"/>
          </p:nvPr>
        </p:nvSpPr>
        <p:spPr/>
        <p:txBody>
          <a:bodyPr/>
          <a:lstStyle/>
          <a:p>
            <a:r>
              <a:rPr lang="en-US" b="1" dirty="0"/>
              <a:t>Scientific Diagram</a:t>
            </a:r>
            <a:endParaRPr lang="en-US" dirty="0"/>
          </a:p>
        </p:txBody>
      </p:sp>
      <p:pic>
        <p:nvPicPr>
          <p:cNvPr id="3" name="Picture 2">
            <a:extLst>
              <a:ext uri="{FF2B5EF4-FFF2-40B4-BE49-F238E27FC236}">
                <a16:creationId xmlns:a16="http://schemas.microsoft.com/office/drawing/2014/main" id="{B456337D-422A-918B-B9C0-CCF1230F6886}"/>
              </a:ext>
            </a:extLst>
          </p:cNvPr>
          <p:cNvPicPr/>
          <p:nvPr/>
        </p:nvPicPr>
        <p:blipFill>
          <a:blip r:embed="rId2"/>
          <a:stretch>
            <a:fillRect/>
          </a:stretch>
        </p:blipFill>
        <p:spPr>
          <a:xfrm>
            <a:off x="1462520" y="1947141"/>
            <a:ext cx="2838450" cy="3924300"/>
          </a:xfrm>
          <a:prstGeom prst="rect">
            <a:avLst/>
          </a:prstGeom>
        </p:spPr>
      </p:pic>
      <p:sp>
        <p:nvSpPr>
          <p:cNvPr id="5" name="TextBox 4">
            <a:extLst>
              <a:ext uri="{FF2B5EF4-FFF2-40B4-BE49-F238E27FC236}">
                <a16:creationId xmlns:a16="http://schemas.microsoft.com/office/drawing/2014/main" id="{470B4BD3-9CE9-B7EA-7326-22B8DF193004}"/>
              </a:ext>
            </a:extLst>
          </p:cNvPr>
          <p:cNvSpPr txBox="1"/>
          <p:nvPr/>
        </p:nvSpPr>
        <p:spPr>
          <a:xfrm>
            <a:off x="5461488" y="1600967"/>
            <a:ext cx="4859087" cy="4616648"/>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Ø"/>
            </a:pPr>
            <a:r>
              <a:rPr lang="en-US" altLang="en-US" sz="1400" b="1" dirty="0">
                <a:latin typeface="Arial" panose="020B0604020202020204" pitchFamily="34" charset="0"/>
              </a:rPr>
              <a:t>Problem Identification:</a:t>
            </a:r>
            <a:r>
              <a:rPr lang="en-US" altLang="en-US" sz="1400" dirty="0">
                <a:latin typeface="Arial" panose="020B0604020202020204" pitchFamily="34" charset="0"/>
              </a:rPr>
              <a:t> Traditional security systems fail to detect evolving ransomware variants.</a:t>
            </a:r>
          </a:p>
          <a:p>
            <a:pPr marL="285750" lvl="0" indent="-285750" eaLnBrk="0" fontAlgn="base" hangingPunct="0">
              <a:spcBef>
                <a:spcPct val="0"/>
              </a:spcBef>
              <a:spcAft>
                <a:spcPct val="0"/>
              </a:spcAft>
              <a:buFont typeface="Wingdings" panose="05000000000000000000" pitchFamily="2" charset="2"/>
              <a:buChar char="Ø"/>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sz="1400" b="1" dirty="0">
                <a:latin typeface="Arial" panose="020B0604020202020204" pitchFamily="34" charset="0"/>
              </a:rPr>
              <a:t>Data Collection:</a:t>
            </a:r>
            <a:r>
              <a:rPr lang="en-US" altLang="en-US" sz="1400" dirty="0">
                <a:latin typeface="Arial" panose="020B0604020202020204" pitchFamily="34" charset="0"/>
              </a:rPr>
              <a:t> Gather malicious and benign system activity datasets from reliable sources.</a:t>
            </a:r>
          </a:p>
          <a:p>
            <a:pPr marL="285750" lvl="0" indent="-285750" eaLnBrk="0" fontAlgn="base" hangingPunct="0">
              <a:spcBef>
                <a:spcPct val="0"/>
              </a:spcBef>
              <a:spcAft>
                <a:spcPct val="0"/>
              </a:spcAft>
              <a:buFont typeface="Wingdings" panose="05000000000000000000" pitchFamily="2" charset="2"/>
              <a:buChar char="Ø"/>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sz="1400" b="1" dirty="0">
                <a:latin typeface="Arial" panose="020B0604020202020204" pitchFamily="34" charset="0"/>
              </a:rPr>
              <a:t>Data Preprocessing:</a:t>
            </a:r>
            <a:r>
              <a:rPr lang="en-US" altLang="en-US" sz="1400" dirty="0">
                <a:latin typeface="Arial" panose="020B0604020202020204" pitchFamily="34" charset="0"/>
              </a:rPr>
              <a:t> Clean and transform data for machine learning analysis.</a:t>
            </a:r>
          </a:p>
          <a:p>
            <a:pPr marL="285750" lvl="0" indent="-285750" eaLnBrk="0" fontAlgn="base" hangingPunct="0">
              <a:spcBef>
                <a:spcPct val="0"/>
              </a:spcBef>
              <a:spcAft>
                <a:spcPct val="0"/>
              </a:spcAft>
              <a:buFont typeface="Wingdings" panose="05000000000000000000" pitchFamily="2" charset="2"/>
              <a:buChar char="Ø"/>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sz="1400" b="1" dirty="0">
                <a:latin typeface="Arial" panose="020B0604020202020204" pitchFamily="34" charset="0"/>
              </a:rPr>
              <a:t>Model Development:</a:t>
            </a:r>
            <a:r>
              <a:rPr lang="en-US" altLang="en-US" sz="1400" dirty="0">
                <a:latin typeface="Arial" panose="020B0604020202020204" pitchFamily="34" charset="0"/>
              </a:rPr>
              <a:t> Select and design ML algorithms to detect ransomware behavior.</a:t>
            </a:r>
          </a:p>
          <a:p>
            <a:pPr marL="285750" lvl="0" indent="-285750" eaLnBrk="0" fontAlgn="base" hangingPunct="0">
              <a:spcBef>
                <a:spcPct val="0"/>
              </a:spcBef>
              <a:spcAft>
                <a:spcPct val="0"/>
              </a:spcAft>
              <a:buFont typeface="Wingdings" panose="05000000000000000000" pitchFamily="2" charset="2"/>
              <a:buChar char="Ø"/>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sz="1400" b="1" dirty="0">
                <a:latin typeface="Arial" panose="020B0604020202020204" pitchFamily="34" charset="0"/>
              </a:rPr>
              <a:t>Training &amp; Validation:</a:t>
            </a:r>
            <a:r>
              <a:rPr lang="en-US" altLang="en-US" sz="1400" dirty="0">
                <a:latin typeface="Arial" panose="020B0604020202020204" pitchFamily="34" charset="0"/>
              </a:rPr>
              <a:t> Evaluate algorithms using performance metrics.</a:t>
            </a:r>
          </a:p>
          <a:p>
            <a:pPr marL="285750" lvl="0" indent="-285750" eaLnBrk="0" fontAlgn="base" hangingPunct="0">
              <a:spcBef>
                <a:spcPct val="0"/>
              </a:spcBef>
              <a:spcAft>
                <a:spcPct val="0"/>
              </a:spcAft>
              <a:buFont typeface="Wingdings" panose="05000000000000000000" pitchFamily="2" charset="2"/>
              <a:buChar char="Ø"/>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sz="1400" b="1" dirty="0">
                <a:latin typeface="Arial" panose="020B0604020202020204" pitchFamily="34" charset="0"/>
              </a:rPr>
              <a:t>Detection Framework:</a:t>
            </a:r>
            <a:r>
              <a:rPr lang="en-US" altLang="en-US" sz="1400" dirty="0">
                <a:latin typeface="Arial" panose="020B0604020202020204" pitchFamily="34" charset="0"/>
              </a:rPr>
              <a:t> Implement real-time ransomware detection system.</a:t>
            </a:r>
          </a:p>
          <a:p>
            <a:pPr marL="285750" lvl="0" indent="-285750" eaLnBrk="0" fontAlgn="base" hangingPunct="0">
              <a:spcBef>
                <a:spcPct val="0"/>
              </a:spcBef>
              <a:spcAft>
                <a:spcPct val="0"/>
              </a:spcAft>
              <a:buFont typeface="Wingdings" panose="05000000000000000000" pitchFamily="2" charset="2"/>
              <a:buChar char="Ø"/>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Ø"/>
            </a:pPr>
            <a:r>
              <a:rPr lang="en-US" altLang="en-US" sz="1400" b="1" dirty="0">
                <a:latin typeface="Arial" panose="020B0604020202020204" pitchFamily="34" charset="0"/>
              </a:rPr>
              <a:t>Analysis &amp; Reporting:</a:t>
            </a:r>
            <a:r>
              <a:rPr lang="en-US" altLang="en-US" sz="1400" dirty="0">
                <a:latin typeface="Arial" panose="020B0604020202020204" pitchFamily="34" charset="0"/>
              </a:rPr>
              <a:t> Interpret results, compare models, and document findings.</a:t>
            </a:r>
          </a:p>
          <a:p>
            <a:endParaRPr lang="en-US" sz="1400" dirty="0"/>
          </a:p>
        </p:txBody>
      </p:sp>
    </p:spTree>
    <p:extLst>
      <p:ext uri="{BB962C8B-B14F-4D97-AF65-F5344CB8AC3E}">
        <p14:creationId xmlns:p14="http://schemas.microsoft.com/office/powerpoint/2010/main" val="393974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A08AF-FE83-FA54-1F17-996837F15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AE9B8-B128-BACD-C20A-AA2A34D5BBAB}"/>
              </a:ext>
            </a:extLst>
          </p:cNvPr>
          <p:cNvSpPr>
            <a:spLocks noGrp="1"/>
          </p:cNvSpPr>
          <p:nvPr>
            <p:ph type="title"/>
          </p:nvPr>
        </p:nvSpPr>
        <p:spPr/>
        <p:txBody>
          <a:bodyPr/>
          <a:lstStyle/>
          <a:p>
            <a:r>
              <a:rPr lang="en-US" b="1" dirty="0"/>
              <a:t>Scientific Diagram</a:t>
            </a:r>
            <a:endParaRPr lang="en-US" dirty="0"/>
          </a:p>
        </p:txBody>
      </p:sp>
      <p:sp>
        <p:nvSpPr>
          <p:cNvPr id="5" name="TextBox 4">
            <a:extLst>
              <a:ext uri="{FF2B5EF4-FFF2-40B4-BE49-F238E27FC236}">
                <a16:creationId xmlns:a16="http://schemas.microsoft.com/office/drawing/2014/main" id="{8450784D-848E-2C32-8D6C-43545663F268}"/>
              </a:ext>
            </a:extLst>
          </p:cNvPr>
          <p:cNvSpPr txBox="1"/>
          <p:nvPr/>
        </p:nvSpPr>
        <p:spPr>
          <a:xfrm>
            <a:off x="5461488" y="1600967"/>
            <a:ext cx="4859087" cy="3108543"/>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q"/>
            </a:pPr>
            <a:r>
              <a:rPr lang="en-US" altLang="en-US" sz="1400" b="1" dirty="0">
                <a:latin typeface="Arial" panose="020B0604020202020204" pitchFamily="34" charset="0"/>
              </a:rPr>
              <a:t>Artificial Intelligence (AI):</a:t>
            </a:r>
            <a:r>
              <a:rPr lang="en-US" altLang="en-US" sz="1400" dirty="0">
                <a:latin typeface="Arial" panose="020B0604020202020204" pitchFamily="34" charset="0"/>
              </a:rPr>
              <a:t> Broad field enabling machines to simulate human intelligence and solve complex problems.</a:t>
            </a:r>
          </a:p>
          <a:p>
            <a:pPr marL="285750" lvl="0" indent="-285750" eaLnBrk="0" fontAlgn="base" hangingPunct="0">
              <a:spcBef>
                <a:spcPct val="0"/>
              </a:spcBef>
              <a:spcAft>
                <a:spcPct val="0"/>
              </a:spcAft>
              <a:buFont typeface="Wingdings" panose="05000000000000000000" pitchFamily="2" charset="2"/>
              <a:buChar char="q"/>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q"/>
            </a:pPr>
            <a:r>
              <a:rPr lang="en-US" altLang="en-US" sz="1400" b="1" dirty="0">
                <a:latin typeface="Arial" panose="020B0604020202020204" pitchFamily="34" charset="0"/>
              </a:rPr>
              <a:t>Machine Learning (ML):</a:t>
            </a:r>
            <a:r>
              <a:rPr lang="en-US" altLang="en-US" sz="1400" dirty="0">
                <a:latin typeface="Arial" panose="020B0604020202020204" pitchFamily="34" charset="0"/>
              </a:rPr>
              <a:t> Subset of AI; algorithms learn patterns from data to make predictions or decisions.</a:t>
            </a:r>
          </a:p>
          <a:p>
            <a:pPr marL="285750" lvl="0" indent="-285750" eaLnBrk="0" fontAlgn="base" hangingPunct="0">
              <a:spcBef>
                <a:spcPct val="0"/>
              </a:spcBef>
              <a:spcAft>
                <a:spcPct val="0"/>
              </a:spcAft>
              <a:buFont typeface="Wingdings" panose="05000000000000000000" pitchFamily="2" charset="2"/>
              <a:buChar char="q"/>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q"/>
            </a:pPr>
            <a:r>
              <a:rPr lang="en-US" altLang="en-US" sz="1400" b="1" dirty="0">
                <a:latin typeface="Arial" panose="020B0604020202020204" pitchFamily="34" charset="0"/>
              </a:rPr>
              <a:t>Deep Learning (DL):</a:t>
            </a:r>
            <a:r>
              <a:rPr lang="en-US" altLang="en-US" sz="1400" dirty="0">
                <a:latin typeface="Arial" panose="020B0604020202020204" pitchFamily="34" charset="0"/>
              </a:rPr>
              <a:t> Subset of ML; uses neural networks to analyze complex data and detect sophisticated threats.</a:t>
            </a:r>
          </a:p>
          <a:p>
            <a:pPr marL="285750" lvl="0" indent="-285750" eaLnBrk="0" fontAlgn="base" hangingPunct="0">
              <a:spcBef>
                <a:spcPct val="0"/>
              </a:spcBef>
              <a:spcAft>
                <a:spcPct val="0"/>
              </a:spcAft>
              <a:buFont typeface="Wingdings" panose="05000000000000000000" pitchFamily="2" charset="2"/>
              <a:buChar char="q"/>
            </a:pPr>
            <a:endParaRPr lang="en-US" altLang="en-US" sz="1400" dirty="0">
              <a:latin typeface="Arial" panose="020B0604020202020204" pitchFamily="34" charset="0"/>
            </a:endParaRPr>
          </a:p>
          <a:p>
            <a:pPr marL="285750" lvl="0" indent="-285750" eaLnBrk="0" fontAlgn="base" hangingPunct="0">
              <a:spcBef>
                <a:spcPct val="0"/>
              </a:spcBef>
              <a:spcAft>
                <a:spcPct val="0"/>
              </a:spcAft>
              <a:buFont typeface="Wingdings" panose="05000000000000000000" pitchFamily="2" charset="2"/>
              <a:buChar char="q"/>
            </a:pPr>
            <a:r>
              <a:rPr lang="en-US" altLang="en-US" sz="1400" b="1" dirty="0">
                <a:latin typeface="Arial" panose="020B0604020202020204" pitchFamily="34" charset="0"/>
              </a:rPr>
              <a:t>Insight:</a:t>
            </a:r>
            <a:r>
              <a:rPr lang="en-US" altLang="en-US" sz="1400" dirty="0">
                <a:latin typeface="Arial" panose="020B0604020202020204" pitchFamily="34" charset="0"/>
              </a:rPr>
              <a:t> These techniques enhance cybersecurity systems and help detect unknown threats, each with a distinct but interconnected role.</a:t>
            </a:r>
          </a:p>
        </p:txBody>
      </p:sp>
      <p:pic>
        <p:nvPicPr>
          <p:cNvPr id="4" name="Picture 3">
            <a:extLst>
              <a:ext uri="{FF2B5EF4-FFF2-40B4-BE49-F238E27FC236}">
                <a16:creationId xmlns:a16="http://schemas.microsoft.com/office/drawing/2014/main" id="{94609697-DBF4-DD39-3852-2384F5008EDD}"/>
              </a:ext>
            </a:extLst>
          </p:cNvPr>
          <p:cNvPicPr/>
          <p:nvPr/>
        </p:nvPicPr>
        <p:blipFill>
          <a:blip r:embed="rId2"/>
          <a:stretch>
            <a:fillRect/>
          </a:stretch>
        </p:blipFill>
        <p:spPr>
          <a:xfrm>
            <a:off x="1104900" y="2292350"/>
            <a:ext cx="3524250" cy="2476500"/>
          </a:xfrm>
          <a:prstGeom prst="rect">
            <a:avLst/>
          </a:prstGeom>
        </p:spPr>
      </p:pic>
    </p:spTree>
    <p:extLst>
      <p:ext uri="{BB962C8B-B14F-4D97-AF65-F5344CB8AC3E}">
        <p14:creationId xmlns:p14="http://schemas.microsoft.com/office/powerpoint/2010/main" val="1631339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References</a:t>
            </a:r>
            <a:endParaRPr lang="en-US" dirty="0"/>
          </a:p>
        </p:txBody>
      </p:sp>
      <p:sp>
        <p:nvSpPr>
          <p:cNvPr id="5" name="TextBox 4">
            <a:extLst>
              <a:ext uri="{FF2B5EF4-FFF2-40B4-BE49-F238E27FC236}">
                <a16:creationId xmlns:a16="http://schemas.microsoft.com/office/drawing/2014/main" id="{27B61F5E-3CCB-FEEE-7D53-AF590DDED143}"/>
              </a:ext>
            </a:extLst>
          </p:cNvPr>
          <p:cNvSpPr txBox="1"/>
          <p:nvPr/>
        </p:nvSpPr>
        <p:spPr>
          <a:xfrm>
            <a:off x="1274618" y="1902691"/>
            <a:ext cx="8543637" cy="4401205"/>
          </a:xfrm>
          <a:prstGeom prst="rect">
            <a:avLst/>
          </a:prstGeom>
          <a:noFill/>
        </p:spPr>
        <p:txBody>
          <a:bodyPr wrap="square" rtlCol="0">
            <a:spAutoFit/>
          </a:bodyPr>
          <a:lstStyle/>
          <a:p>
            <a:r>
              <a:rPr lang="en-US" sz="1000" dirty="0"/>
              <a:t> </a:t>
            </a:r>
          </a:p>
          <a:p>
            <a:pPr lvl="0" fontAlgn="base"/>
            <a:r>
              <a:rPr lang="en-US" sz="1000" dirty="0"/>
              <a:t>[1] H. Ali, M. A. Qureshi, and A. Javed, “Machine Learning-Based Behavioral Analysis for Ransomware Detection: A Systematic Review,” J. Cybersecurity Digit. Forensics, vol. 15, no. 2, pp. 45–60, 2023. </a:t>
            </a:r>
            <a:r>
              <a:rPr lang="en-US" sz="1000" dirty="0" err="1"/>
              <a:t>doi</a:t>
            </a:r>
            <a:r>
              <a:rPr lang="en-US" sz="1000" dirty="0"/>
              <a:t>: 10.xxxx/jcdf.2023.xxxxx  </a:t>
            </a:r>
          </a:p>
          <a:p>
            <a:pPr lvl="0" fontAlgn="base"/>
            <a:endParaRPr lang="en-US" sz="1000" dirty="0"/>
          </a:p>
          <a:p>
            <a:pPr lvl="0" fontAlgn="base"/>
            <a:r>
              <a:rPr lang="en-US" sz="1000" dirty="0"/>
              <a:t>[2] D. </a:t>
            </a:r>
            <a:r>
              <a:rPr lang="en-US" sz="1000" dirty="0" err="1"/>
              <a:t>Sgandurra</a:t>
            </a:r>
            <a:r>
              <a:rPr lang="en-US" sz="1000" dirty="0"/>
              <a:t>, L. Muñoz-González, R. Mohsen, and E. Lupu, “Automated Dynamic Analysis of Ransomware Using Machine Learning,” in Proc. IEEE Int. Conf. Security and Privacy in Communication Networks, 2016, pp. 385–402. </a:t>
            </a:r>
            <a:r>
              <a:rPr lang="en-US" sz="1000" dirty="0" err="1"/>
              <a:t>doi</a:t>
            </a:r>
            <a:r>
              <a:rPr lang="en-US" sz="1000" dirty="0"/>
              <a:t>: 10.xxxx/icspcn.2016.xxxxx  </a:t>
            </a:r>
          </a:p>
          <a:p>
            <a:pPr lvl="0" fontAlgn="base"/>
            <a:endParaRPr lang="en-US" sz="1000" dirty="0"/>
          </a:p>
          <a:p>
            <a:pPr lvl="0" fontAlgn="base"/>
            <a:r>
              <a:rPr lang="en-US" sz="1000" dirty="0"/>
              <a:t>[3] Symantec Threat Intelligence, “Ransomware Trends and Emerging Attack Techniques,” </a:t>
            </a:r>
          </a:p>
          <a:p>
            <a:r>
              <a:rPr lang="en-US" sz="1000" dirty="0"/>
              <a:t>Symantec Enterprise Research, </a:t>
            </a:r>
          </a:p>
          <a:p>
            <a:r>
              <a:rPr lang="en-US" sz="1000" dirty="0"/>
              <a:t>2024. [Online]. Available:</a:t>
            </a:r>
            <a:r>
              <a:rPr lang="en-US" sz="1000" u="sng" dirty="0">
                <a:hlinkClick r:id="rId2"/>
              </a:rPr>
              <a:t> https://www.symantec.com/research/ransomware</a:t>
            </a:r>
            <a:r>
              <a:rPr lang="en-US" sz="1000" dirty="0">
                <a:hlinkClick r:id="rId2"/>
              </a:rPr>
              <a:t> </a:t>
            </a:r>
            <a:r>
              <a:rPr lang="en-US" sz="1000" dirty="0"/>
              <a:t> </a:t>
            </a:r>
          </a:p>
          <a:p>
            <a:endParaRPr lang="en-US" sz="1000" dirty="0"/>
          </a:p>
          <a:p>
            <a:pPr lvl="0" fontAlgn="base"/>
            <a:r>
              <a:rPr lang="en-US" sz="1000" dirty="0"/>
              <a:t>[4] R. Sharma and T. Chen, “Adversarial Attacks on Ransomware Detection Systems,” ACM </a:t>
            </a:r>
          </a:p>
          <a:p>
            <a:r>
              <a:rPr lang="en-US" sz="1000" dirty="0"/>
              <a:t>Trans. Privacy </a:t>
            </a:r>
            <a:r>
              <a:rPr lang="en-US" sz="1000" dirty="0" err="1"/>
              <a:t>Secur</a:t>
            </a:r>
            <a:r>
              <a:rPr lang="en-US" sz="1000" dirty="0"/>
              <a:t>., vol. 25, no. 4, pp. 1–22, 2022. </a:t>
            </a:r>
            <a:r>
              <a:rPr lang="en-US" sz="1000" dirty="0" err="1"/>
              <a:t>doi</a:t>
            </a:r>
            <a:r>
              <a:rPr lang="en-US" sz="1000" dirty="0"/>
              <a:t>: 10.xxxx/acmtps.2022.xxxxx </a:t>
            </a:r>
          </a:p>
          <a:p>
            <a:r>
              <a:rPr lang="en-US" sz="1000" dirty="0"/>
              <a:t> </a:t>
            </a:r>
          </a:p>
          <a:p>
            <a:pPr lvl="0" fontAlgn="base"/>
            <a:r>
              <a:rPr lang="en-US" sz="1000" dirty="0"/>
              <a:t>[5] M. Rele, J. Samuel, D. Patil, and U. Krishnan, “Exploring Ransomware Detection Based on </a:t>
            </a:r>
          </a:p>
          <a:p>
            <a:r>
              <a:rPr lang="en-US" sz="1000" dirty="0"/>
              <a:t>Artificial Intelligence and Machine Learning,” Procedia Computer Science, vol. 252, pp. 548– 556, 2025, </a:t>
            </a:r>
            <a:r>
              <a:rPr lang="en-US" sz="1000" dirty="0" err="1"/>
              <a:t>doi</a:t>
            </a:r>
            <a:r>
              <a:rPr lang="en-US" sz="1000" dirty="0"/>
              <a:t>: 10.1016/j.procs.2025.01.014.</a:t>
            </a:r>
          </a:p>
          <a:p>
            <a:r>
              <a:rPr lang="en-US" sz="1000" dirty="0"/>
              <a:t>   </a:t>
            </a:r>
          </a:p>
          <a:p>
            <a:pPr lvl="0" fontAlgn="base"/>
            <a:r>
              <a:rPr lang="en-US" sz="1000" dirty="0"/>
              <a:t>[6] S. </a:t>
            </a:r>
            <a:r>
              <a:rPr lang="en-US" sz="1000" dirty="0" err="1"/>
              <a:t>Ankalaki</a:t>
            </a:r>
            <a:r>
              <a:rPr lang="en-US" sz="1000" dirty="0"/>
              <a:t>, A. R. </a:t>
            </a:r>
            <a:r>
              <a:rPr lang="en-US" sz="1000" dirty="0" err="1"/>
              <a:t>Atmakuri</a:t>
            </a:r>
            <a:r>
              <a:rPr lang="en-US" sz="1000" dirty="0"/>
              <a:t>, M. Pallavi, G. S. </a:t>
            </a:r>
            <a:r>
              <a:rPr lang="en-US" sz="1000" dirty="0" err="1"/>
              <a:t>Hukkeri</a:t>
            </a:r>
            <a:r>
              <a:rPr lang="en-US" sz="1000" dirty="0"/>
              <a:t>, T. Jan, and G. R. Naik, “Cyber Attack Prediction: From Traditional Machine Learning to Generative Artificial Intelligence,” IEEE Access, vol. 13, pp. 44662–44706, 2025, </a:t>
            </a:r>
            <a:r>
              <a:rPr lang="en-US" sz="1000" dirty="0" err="1"/>
              <a:t>doi</a:t>
            </a:r>
            <a:r>
              <a:rPr lang="en-US" sz="1000" dirty="0"/>
              <a:t>: 10.1109/ACCESS.2025.3547433. </a:t>
            </a:r>
          </a:p>
          <a:p>
            <a:pPr lvl="0" fontAlgn="base"/>
            <a:r>
              <a:rPr lang="en-US" sz="1000" dirty="0"/>
              <a:t>  </a:t>
            </a:r>
          </a:p>
          <a:p>
            <a:pPr lvl="0" fontAlgn="base"/>
            <a:r>
              <a:rPr lang="en-US" sz="1000" dirty="0"/>
              <a:t>[7] J. E. Hill, T. O. Walker, J. A. Blanco, R. W. Ives, R. </a:t>
            </a:r>
            <a:r>
              <a:rPr lang="en-US" sz="1000" dirty="0" err="1"/>
              <a:t>Rakvic</a:t>
            </a:r>
            <a:r>
              <a:rPr lang="en-US" sz="1000" dirty="0"/>
              <a:t>, and B. Jacob, “Ransomware </a:t>
            </a:r>
          </a:p>
          <a:p>
            <a:r>
              <a:rPr lang="en-US" sz="1000" dirty="0"/>
              <a:t>Classification Using Hardware Performance Counters on a Non-Virtualized System,” IEEE Access, vol. 12, pp. 63865–63884, 2024, </a:t>
            </a:r>
            <a:r>
              <a:rPr lang="en-US" sz="1000" dirty="0" err="1"/>
              <a:t>doi</a:t>
            </a:r>
            <a:r>
              <a:rPr lang="en-US" sz="1000" dirty="0"/>
              <a:t>: 10.1109/ACCESS.2024.3395491. </a:t>
            </a:r>
          </a:p>
          <a:p>
            <a:r>
              <a:rPr lang="en-US" sz="1000" dirty="0"/>
              <a:t> </a:t>
            </a:r>
          </a:p>
          <a:p>
            <a:pPr lvl="0" fontAlgn="base"/>
            <a:r>
              <a:rPr lang="en-US" sz="1000" dirty="0"/>
              <a:t>[8] G. Han, B. Zhou, and Y. Zhang, “Application of Genetic Algorithm-Grey Wolf Optimization-</a:t>
            </a:r>
          </a:p>
          <a:p>
            <a:r>
              <a:rPr lang="en-US" sz="1000" dirty="0"/>
              <a:t>Support Vector Machine Algorithm in Network Security Services Assessment and Prediction,” Journal of Cyber Security and Mobility, vol. 13, no. 5, pp. 941–961, 2024, </a:t>
            </a:r>
            <a:r>
              <a:rPr lang="en-US" sz="1000" dirty="0" err="1"/>
              <a:t>doi</a:t>
            </a:r>
            <a:r>
              <a:rPr lang="en-US" sz="1000" dirty="0"/>
              <a:t>: </a:t>
            </a:r>
          </a:p>
          <a:p>
            <a:r>
              <a:rPr lang="en-US" sz="1000" dirty="0"/>
              <a:t>10.13052/jcsm2245-1439.1356. </a:t>
            </a:r>
          </a:p>
        </p:txBody>
      </p:sp>
    </p:spTree>
    <p:extLst>
      <p:ext uri="{BB962C8B-B14F-4D97-AF65-F5344CB8AC3E}">
        <p14:creationId xmlns:p14="http://schemas.microsoft.com/office/powerpoint/2010/main" val="1527004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21C5-5CB6-FAF3-6A91-156DD5658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819EF-ADF0-003B-BC0B-42D70A4A335D}"/>
              </a:ext>
            </a:extLst>
          </p:cNvPr>
          <p:cNvSpPr>
            <a:spLocks noGrp="1"/>
          </p:cNvSpPr>
          <p:nvPr>
            <p:ph type="title"/>
          </p:nvPr>
        </p:nvSpPr>
        <p:spPr/>
        <p:txBody>
          <a:bodyPr/>
          <a:lstStyle/>
          <a:p>
            <a:r>
              <a:rPr lang="en-US" b="1" dirty="0"/>
              <a:t>References</a:t>
            </a:r>
            <a:endParaRPr lang="en-US" dirty="0"/>
          </a:p>
        </p:txBody>
      </p:sp>
      <p:sp>
        <p:nvSpPr>
          <p:cNvPr id="5" name="TextBox 4">
            <a:extLst>
              <a:ext uri="{FF2B5EF4-FFF2-40B4-BE49-F238E27FC236}">
                <a16:creationId xmlns:a16="http://schemas.microsoft.com/office/drawing/2014/main" id="{FABB12DE-343A-36EC-A6E5-38F4837BE942}"/>
              </a:ext>
            </a:extLst>
          </p:cNvPr>
          <p:cNvSpPr txBox="1"/>
          <p:nvPr/>
        </p:nvSpPr>
        <p:spPr>
          <a:xfrm>
            <a:off x="1274618" y="1902691"/>
            <a:ext cx="8543637" cy="4093428"/>
          </a:xfrm>
          <a:prstGeom prst="rect">
            <a:avLst/>
          </a:prstGeom>
          <a:noFill/>
        </p:spPr>
        <p:txBody>
          <a:bodyPr wrap="square" rtlCol="0">
            <a:spAutoFit/>
          </a:bodyPr>
          <a:lstStyle/>
          <a:p>
            <a:pPr lvl="0" fontAlgn="base"/>
            <a:r>
              <a:rPr lang="en-US" sz="1000" dirty="0"/>
              <a:t>[9] S. S. Hussain, M. F. A. Razak, and A. Firdaus, “Deep Learning Based Hybrid Analysis of </a:t>
            </a:r>
          </a:p>
          <a:p>
            <a:r>
              <a:rPr lang="en-US" sz="1000" dirty="0"/>
              <a:t>Malware Detection and Classification: A Recent Review,” Journal of Cyber Security and Mobility, vol. 13, no. 1, pp. 91–134, 2023, </a:t>
            </a:r>
            <a:r>
              <a:rPr lang="en-US" sz="1000" dirty="0" err="1"/>
              <a:t>doi</a:t>
            </a:r>
            <a:r>
              <a:rPr lang="en-US" sz="1000" dirty="0"/>
              <a:t>: 10.13052/jcsm2245-1439.1314.  </a:t>
            </a:r>
          </a:p>
          <a:p>
            <a:endParaRPr lang="en-US" sz="1000" dirty="0"/>
          </a:p>
          <a:p>
            <a:pPr lvl="0" fontAlgn="base"/>
            <a:r>
              <a:rPr lang="en-US" sz="1000" dirty="0"/>
              <a:t>[10] S. Alzahrani, Y. Xiao, S. Asiri, J. Zheng, and T. Li, “A Survey of Ransomware Detection </a:t>
            </a:r>
          </a:p>
          <a:p>
            <a:r>
              <a:rPr lang="en-US" sz="1000" dirty="0"/>
              <a:t>Methods,” IEEE Access, vol. 13, pp. 57943–57982, 2025, </a:t>
            </a:r>
            <a:r>
              <a:rPr lang="en-US" sz="1000" dirty="0" err="1"/>
              <a:t>doi</a:t>
            </a:r>
            <a:r>
              <a:rPr lang="en-US" sz="1000" dirty="0"/>
              <a:t>: 10.1109/ACCESS.2025.3556187.  </a:t>
            </a:r>
          </a:p>
          <a:p>
            <a:endParaRPr lang="en-US" sz="1000" dirty="0"/>
          </a:p>
          <a:p>
            <a:pPr lvl="0" fontAlgn="base"/>
            <a:r>
              <a:rPr lang="en-US" sz="1000" dirty="0"/>
              <a:t>[11] A. </a:t>
            </a:r>
            <a:r>
              <a:rPr lang="en-US" sz="1000" dirty="0" err="1"/>
              <a:t>Alraizza</a:t>
            </a:r>
            <a:r>
              <a:rPr lang="en-US" sz="1000" dirty="0"/>
              <a:t> and A. </a:t>
            </a:r>
            <a:r>
              <a:rPr lang="en-US" sz="1000" dirty="0" err="1"/>
              <a:t>Algarni</a:t>
            </a:r>
            <a:r>
              <a:rPr lang="en-US" sz="1000" dirty="0"/>
              <a:t>, "Ransomware Detection Using Machine Learning: A Survey," </a:t>
            </a:r>
            <a:r>
              <a:rPr lang="en-US" sz="1000" i="1" dirty="0"/>
              <a:t>Big Data and Cognitive Computing</a:t>
            </a:r>
            <a:r>
              <a:rPr lang="en-US" sz="1000" dirty="0"/>
              <a:t>, vol. 7, no. 143, 2023. </a:t>
            </a:r>
          </a:p>
          <a:p>
            <a:pPr lvl="0" fontAlgn="base"/>
            <a:r>
              <a:rPr lang="en-US" sz="1000" dirty="0"/>
              <a:t> </a:t>
            </a:r>
          </a:p>
          <a:p>
            <a:pPr lvl="0" fontAlgn="base"/>
            <a:r>
              <a:rPr lang="en-US" sz="1000" dirty="0"/>
              <a:t>[12] G. Nagar, "The Evolution of Ransomware: Tactics, Techniques, and Mitigation </a:t>
            </a:r>
          </a:p>
          <a:p>
            <a:r>
              <a:rPr lang="en-US" sz="1000" dirty="0"/>
              <a:t>Strategies," </a:t>
            </a:r>
            <a:r>
              <a:rPr lang="en-US" sz="1000" i="1" dirty="0"/>
              <a:t>International Journal of Scientific Research and Management (IJSRM)</a:t>
            </a:r>
            <a:r>
              <a:rPr lang="en-US" sz="1000" dirty="0"/>
              <a:t>, vol. 12, no. </a:t>
            </a:r>
          </a:p>
          <a:p>
            <a:r>
              <a:rPr lang="en-US" sz="1000" dirty="0"/>
              <a:t>06, pp. 1282-1298, 2024.  </a:t>
            </a:r>
          </a:p>
          <a:p>
            <a:endParaRPr lang="en-US" sz="1000" dirty="0"/>
          </a:p>
          <a:p>
            <a:pPr lvl="0" fontAlgn="base"/>
            <a:r>
              <a:rPr lang="en-US" sz="1000" dirty="0"/>
              <a:t>[13] F. Jimmy, "Understanding Ransomware Attacks: Trends and Prevention </a:t>
            </a:r>
          </a:p>
          <a:p>
            <a:r>
              <a:rPr lang="en-US" sz="1000" dirty="0"/>
              <a:t>Strategies," </a:t>
            </a:r>
            <a:r>
              <a:rPr lang="en-US" sz="1000" i="1" dirty="0"/>
              <a:t>Journal of Knowledge Learning and Science Technology</a:t>
            </a:r>
            <a:r>
              <a:rPr lang="en-US" sz="1000" dirty="0"/>
              <a:t>, vol. 2, no. 1, pp. 181-211, 2023.</a:t>
            </a:r>
          </a:p>
          <a:p>
            <a:r>
              <a:rPr lang="en-US" sz="1000" dirty="0"/>
              <a:t>  </a:t>
            </a:r>
          </a:p>
          <a:p>
            <a:pPr lvl="0" fontAlgn="base"/>
            <a:r>
              <a:rPr lang="en-US" sz="1000" dirty="0"/>
              <a:t>[14] M. Talu, "Security and Privacy in the </a:t>
            </a:r>
            <a:r>
              <a:rPr lang="en-US" sz="1000" dirty="0" err="1"/>
              <a:t>IIoT</a:t>
            </a:r>
            <a:r>
              <a:rPr lang="en-US" sz="1000" dirty="0"/>
              <a:t>: Threats, Possible Security Countermeasures, and Future Challenges," </a:t>
            </a:r>
            <a:r>
              <a:rPr lang="en-US" sz="1000" i="1" dirty="0"/>
              <a:t>Computing &amp; AI Connect</a:t>
            </a:r>
            <a:r>
              <a:rPr lang="en-US" sz="1000" dirty="0"/>
              <a:t>, vol. 2, 2025.   </a:t>
            </a:r>
          </a:p>
          <a:p>
            <a:pPr lvl="0" fontAlgn="base"/>
            <a:endParaRPr lang="en-US" sz="1000" dirty="0"/>
          </a:p>
          <a:p>
            <a:pPr lvl="0" fontAlgn="base"/>
            <a:r>
              <a:rPr lang="en-US" sz="1000" dirty="0"/>
              <a:t>[15] M. Humayun, N. </a:t>
            </a:r>
            <a:r>
              <a:rPr lang="en-US" sz="1000" dirty="0" err="1"/>
              <a:t>Jhanjhi</a:t>
            </a:r>
            <a:r>
              <a:rPr lang="en-US" sz="1000" dirty="0"/>
              <a:t>, A. </a:t>
            </a:r>
            <a:r>
              <a:rPr lang="en-US" sz="1000" dirty="0" err="1"/>
              <a:t>Alsayat</a:t>
            </a:r>
            <a:r>
              <a:rPr lang="en-US" sz="1000" dirty="0"/>
              <a:t>, and V. Ponnusamy, "Internet of things and ransomware: Evolution, mitigation and prevention," </a:t>
            </a:r>
            <a:r>
              <a:rPr lang="en-US" sz="1000" i="1" dirty="0"/>
              <a:t>Egyptian Informatics Journal</a:t>
            </a:r>
            <a:r>
              <a:rPr lang="en-US" sz="1000" dirty="0"/>
              <a:t>, 2020.   </a:t>
            </a:r>
          </a:p>
          <a:p>
            <a:pPr lvl="0" fontAlgn="base"/>
            <a:endParaRPr lang="en-US" sz="1000" dirty="0"/>
          </a:p>
          <a:p>
            <a:pPr lvl="0" fontAlgn="base"/>
            <a:r>
              <a:rPr lang="en-US" sz="1000" dirty="0"/>
              <a:t>[16] M. R. Shaikh, M. F. Hassan, R. Akbar, R. Ullah, K. S. Savita, U. Rehman, and J. S. </a:t>
            </a:r>
            <a:r>
              <a:rPr lang="en-US" sz="1000" dirty="0" err="1"/>
              <a:t>Yalli</a:t>
            </a:r>
            <a:r>
              <a:rPr lang="en-US" sz="1000" dirty="0"/>
              <a:t>, "Pre-Encryption Ransomware Detection (PERD) Taxonomy, and Research Directions: Systematic Literature Review," </a:t>
            </a:r>
            <a:r>
              <a:rPr lang="en-US" sz="1000" i="1" dirty="0"/>
              <a:t>International Journal of Advanced Computer Science and Applications (IJACSA)</a:t>
            </a:r>
            <a:r>
              <a:rPr lang="en-US" sz="1000" dirty="0"/>
              <a:t>, vol. 15, no. 9, 2024.   </a:t>
            </a:r>
          </a:p>
        </p:txBody>
      </p:sp>
    </p:spTree>
    <p:extLst>
      <p:ext uri="{BB962C8B-B14F-4D97-AF65-F5344CB8AC3E}">
        <p14:creationId xmlns:p14="http://schemas.microsoft.com/office/powerpoint/2010/main" val="353869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5F108-3921-3658-4BBD-CC3B1D4BB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0BED3-CD7A-DB56-2410-68189F3EB4E4}"/>
              </a:ext>
            </a:extLst>
          </p:cNvPr>
          <p:cNvSpPr>
            <a:spLocks noGrp="1"/>
          </p:cNvSpPr>
          <p:nvPr>
            <p:ph type="title"/>
          </p:nvPr>
        </p:nvSpPr>
        <p:spPr/>
        <p:txBody>
          <a:bodyPr/>
          <a:lstStyle/>
          <a:p>
            <a:r>
              <a:rPr lang="en-US" b="1" dirty="0"/>
              <a:t>References</a:t>
            </a:r>
            <a:endParaRPr lang="en-US" dirty="0"/>
          </a:p>
        </p:txBody>
      </p:sp>
      <p:sp>
        <p:nvSpPr>
          <p:cNvPr id="5" name="TextBox 4">
            <a:extLst>
              <a:ext uri="{FF2B5EF4-FFF2-40B4-BE49-F238E27FC236}">
                <a16:creationId xmlns:a16="http://schemas.microsoft.com/office/drawing/2014/main" id="{E8857A95-44C4-04C2-93C3-488D211615C3}"/>
              </a:ext>
            </a:extLst>
          </p:cNvPr>
          <p:cNvSpPr txBox="1"/>
          <p:nvPr/>
        </p:nvSpPr>
        <p:spPr>
          <a:xfrm>
            <a:off x="1274618" y="1902691"/>
            <a:ext cx="8543637" cy="2839239"/>
          </a:xfrm>
          <a:prstGeom prst="rect">
            <a:avLst/>
          </a:prstGeom>
          <a:noFill/>
        </p:spPr>
        <p:txBody>
          <a:bodyPr wrap="square" rtlCol="0">
            <a:spAutoFit/>
          </a:bodyPr>
          <a:lstStyle/>
          <a:p>
            <a:pPr lvl="0" fontAlgn="base"/>
            <a:r>
              <a:rPr lang="en-US" sz="1050" dirty="0"/>
              <a:t>[17] J. </a:t>
            </a:r>
            <a:r>
              <a:rPr lang="en-US" sz="1050" dirty="0" err="1"/>
              <a:t>Ispahany</a:t>
            </a:r>
            <a:r>
              <a:rPr lang="en-US" sz="1050" dirty="0"/>
              <a:t>, M. R. Islam, M. Z. Islam, and M. A. Khan, "Ransomware detection using machine learning: A review, research limitations and future directions," </a:t>
            </a:r>
            <a:r>
              <a:rPr lang="en-US" sz="1050" i="1" dirty="0"/>
              <a:t>IEEE Access</a:t>
            </a:r>
            <a:r>
              <a:rPr lang="en-US" sz="1050" dirty="0"/>
              <a:t>, 2024.</a:t>
            </a:r>
          </a:p>
          <a:p>
            <a:pPr lvl="0" fontAlgn="base"/>
            <a:endParaRPr lang="en-US" sz="1050" dirty="0"/>
          </a:p>
          <a:p>
            <a:pPr lvl="0" fontAlgn="base"/>
            <a:r>
              <a:rPr lang="en-US" sz="1050" dirty="0"/>
              <a:t>[18] M. </a:t>
            </a:r>
            <a:r>
              <a:rPr lang="en-US" sz="1050" dirty="0" err="1"/>
              <a:t>Gazzan</a:t>
            </a:r>
            <a:r>
              <a:rPr lang="en-US" sz="1050" dirty="0"/>
              <a:t> and F. T. Sheldon, "Novel Ransomware Detection Exploiting Uncertainty and </a:t>
            </a:r>
          </a:p>
          <a:p>
            <a:r>
              <a:rPr lang="en-US" sz="1050" dirty="0"/>
              <a:t>Calibration Quality Measures Using Deep Learning," </a:t>
            </a:r>
            <a:r>
              <a:rPr lang="en-US" sz="1050" i="1" dirty="0"/>
              <a:t>Information</a:t>
            </a:r>
            <a:r>
              <a:rPr lang="en-US" sz="1050" dirty="0"/>
              <a:t>, vol. 15, no. 262, 2024.  </a:t>
            </a:r>
          </a:p>
          <a:p>
            <a:endParaRPr lang="en-US" sz="1050" dirty="0"/>
          </a:p>
          <a:p>
            <a:pPr lvl="0" fontAlgn="base"/>
            <a:r>
              <a:rPr lang="en-US" sz="1050" dirty="0"/>
              <a:t>[19] M. Smith and P. Daniel, "Ransomware-as-a-Service (RaaS): The Business Model of Cybercrime," 2025.  </a:t>
            </a:r>
          </a:p>
          <a:p>
            <a:pPr lvl="0" fontAlgn="base"/>
            <a:endParaRPr lang="en-US" sz="1050" dirty="0"/>
          </a:p>
          <a:p>
            <a:pPr lvl="0" fontAlgn="base"/>
            <a:r>
              <a:rPr lang="en-US" sz="1050" dirty="0"/>
              <a:t>[20] A. </a:t>
            </a:r>
            <a:r>
              <a:rPr lang="en-US" sz="1050" dirty="0" err="1"/>
              <a:t>Kharraz</a:t>
            </a:r>
            <a:r>
              <a:rPr lang="en-US" sz="1050" dirty="0"/>
              <a:t>, W. Robertson, D. </a:t>
            </a:r>
            <a:r>
              <a:rPr lang="en-US" sz="1050" dirty="0" err="1"/>
              <a:t>Balzarotti</a:t>
            </a:r>
            <a:r>
              <a:rPr lang="en-US" sz="1050" dirty="0"/>
              <a:t>, L. Bilge, and E. </a:t>
            </a:r>
            <a:r>
              <a:rPr lang="en-US" sz="1050" dirty="0" err="1"/>
              <a:t>Kirda</a:t>
            </a:r>
            <a:r>
              <a:rPr lang="en-US" sz="1050" dirty="0"/>
              <a:t>, “Cutting the Gordian Knot: </a:t>
            </a:r>
          </a:p>
          <a:p>
            <a:r>
              <a:rPr lang="en-US" sz="1050" dirty="0"/>
              <a:t>A Look Under the Hood of Ransomware Attacks,” in Proc. 12th USENIX Conf. Offensive Technologies (WOOT), 2015. [Online]. Available: https://www.usenix.org/conference/woot15/technical-sessions/presentation/kharraz  </a:t>
            </a:r>
          </a:p>
          <a:p>
            <a:endParaRPr lang="en-US" sz="1050" dirty="0"/>
          </a:p>
          <a:p>
            <a:pPr lvl="0" fontAlgn="base"/>
            <a:r>
              <a:rPr lang="en-US" sz="1050" dirty="0"/>
              <a:t>[21] S. </a:t>
            </a:r>
            <a:r>
              <a:rPr lang="en-US" sz="1050" dirty="0" err="1"/>
              <a:t>Sgandurra</a:t>
            </a:r>
            <a:r>
              <a:rPr lang="en-US" sz="1050" dirty="0"/>
              <a:t>, L. Muñoz-González, R. Mohammadi, and E. C. Lupu, “Automated Dynamic Analysis of Ransomware: Benefits, Limitations and Use for Detection,” </a:t>
            </a:r>
            <a:r>
              <a:rPr lang="en-US" sz="1050" dirty="0" err="1"/>
              <a:t>arXiv</a:t>
            </a:r>
            <a:r>
              <a:rPr lang="en-US" sz="1050" dirty="0"/>
              <a:t> preprint arXiv:1609.03020, 2016. [Online]. Available: </a:t>
            </a:r>
            <a:r>
              <a:rPr lang="en-US" sz="1050" dirty="0">
                <a:hlinkClick r:id="rId2"/>
              </a:rPr>
              <a:t>https://arxiv.org/abs/1609.03020</a:t>
            </a:r>
            <a:endParaRPr lang="en-US" sz="1050" dirty="0"/>
          </a:p>
          <a:p>
            <a:pPr lvl="0" fontAlgn="base"/>
            <a:r>
              <a:rPr lang="en-US" sz="1050" dirty="0"/>
              <a:t>  </a:t>
            </a:r>
          </a:p>
          <a:p>
            <a:pPr lvl="0" fontAlgn="base"/>
            <a:r>
              <a:rPr lang="en-US" sz="1050" dirty="0"/>
              <a:t>[22] Endgame Inc., “EMBER Dataset,” 2018. [Online]. Available: https://github.com/endgameinc/ember  </a:t>
            </a:r>
          </a:p>
          <a:p>
            <a:r>
              <a:rPr lang="en-US" sz="1050" dirty="0"/>
              <a:t> </a:t>
            </a:r>
          </a:p>
        </p:txBody>
      </p:sp>
    </p:spTree>
    <p:extLst>
      <p:ext uri="{BB962C8B-B14F-4D97-AF65-F5344CB8AC3E}">
        <p14:creationId xmlns:p14="http://schemas.microsoft.com/office/powerpoint/2010/main" val="2220840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267</TotalTime>
  <Words>2505</Words>
  <Application>Microsoft Office PowerPoint</Application>
  <PresentationFormat>Widescreen</PresentationFormat>
  <Paragraphs>203</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Euphemia</vt:lpstr>
      <vt:lpstr>Plantagenet Cherokee</vt:lpstr>
      <vt:lpstr>Times New Roman</vt:lpstr>
      <vt:lpstr>Wingdings</vt:lpstr>
      <vt:lpstr>Academic Literature 16x9</vt:lpstr>
      <vt:lpstr>TITLE: AI- and Machine Learning-Based Frameworks for Early Detection and Mitigation of Ransomware in Cybersecurity Systems  </vt:lpstr>
      <vt:lpstr>Content List</vt:lpstr>
      <vt:lpstr>Introduction</vt:lpstr>
      <vt:lpstr>Problem Statement</vt:lpstr>
      <vt:lpstr>Primary research question</vt:lpstr>
      <vt:lpstr>Specific Aims/Objectives </vt:lpstr>
      <vt:lpstr>Hypothesis</vt:lpstr>
      <vt:lpstr>Literature review</vt:lpstr>
      <vt:lpstr>Selection of design and Reason for Selection </vt:lpstr>
      <vt:lpstr>Research variables</vt:lpstr>
      <vt:lpstr>Methodology</vt:lpstr>
      <vt:lpstr>Scientific Diagram</vt:lpstr>
      <vt:lpstr>Scientific Diagram</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KAMRUL HASAN</dc:creator>
  <cp:lastModifiedBy>MD. KAMRUL HASAN</cp:lastModifiedBy>
  <cp:revision>1</cp:revision>
  <dcterms:created xsi:type="dcterms:W3CDTF">2025-12-05T06:14:09Z</dcterms:created>
  <dcterms:modified xsi:type="dcterms:W3CDTF">2025-12-05T10:41:40Z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